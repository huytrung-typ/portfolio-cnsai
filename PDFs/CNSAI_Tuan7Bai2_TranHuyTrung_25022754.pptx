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4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750A"/>
          </a:solidFill>
          <a:ln w="12700">
            <a:solidFill>
              <a:srgbClr val="E8750A"/>
            </a:solidFill>
            <a:prstDash val="solid"/>
          </a:ln>
        </p:spPr>
      </p:sp>
      <p:sp>
        <p:nvSpPr>
          <p:cNvPr id="3" name="Shape 1"/>
          <p:cNvSpPr/>
          <p:nvPr/>
        </p:nvSpPr>
        <p:spPr>
          <a:xfrm>
            <a:off x="7132320" y="-548640"/>
            <a:ext cx="2926080" cy="2926080"/>
          </a:xfrm>
          <a:prstGeom prst="ellipse">
            <a:avLst/>
          </a:prstGeom>
          <a:solidFill>
            <a:srgbClr val="253660">
              <a:alpha val="70000"/>
            </a:srgbClr>
          </a:solidFill>
          <a:ln w="19050">
            <a:solidFill>
              <a:srgbClr val="F5A623"/>
            </a:solidFill>
            <a:prstDash val="solid"/>
          </a:ln>
        </p:spPr>
      </p:sp>
      <p:sp>
        <p:nvSpPr>
          <p:cNvPr id="4" name="Shape 2"/>
          <p:cNvSpPr/>
          <p:nvPr/>
        </p:nvSpPr>
        <p:spPr>
          <a:xfrm>
            <a:off x="7680960" y="-91440"/>
            <a:ext cx="1828800" cy="1828800"/>
          </a:xfrm>
          <a:prstGeom prst="ellipse">
            <a:avLst/>
          </a:prstGeom>
          <a:solidFill>
            <a:srgbClr val="E8750A">
              <a:alpha val="40000"/>
            </a:srgbClr>
          </a:solidFill>
          <a:ln w="12700">
            <a:solidFill>
              <a:srgbClr val="E8750A"/>
            </a:solidFill>
            <a:prstDash val="solid"/>
          </a:ln>
        </p:spPr>
      </p:sp>
      <p:sp>
        <p:nvSpPr>
          <p:cNvPr id="5" name="Text 3"/>
          <p:cNvSpPr/>
          <p:nvPr/>
        </p:nvSpPr>
        <p:spPr>
          <a:xfrm>
            <a:off x="274320" y="365760"/>
            <a:ext cx="5486400" cy="365760"/>
          </a:xfrm>
          <a:prstGeom prst="rect">
            <a:avLst/>
          </a:prstGeom>
          <a:noFill/>
          <a:ln/>
        </p:spPr>
        <p:txBody>
          <a:bodyPr wrap="square" lIns="0" tIns="0" rIns="0" bIns="0" rtlCol="0" anchor="ctr"/>
          <a:lstStyle/>
          <a:p>
            <a:pPr indent="0" marL="0">
              <a:buNone/>
            </a:pPr>
            <a:r>
              <a:rPr lang="en-US" sz="1100" b="1" spc="300" kern="0" dirty="0">
                <a:solidFill>
                  <a:srgbClr val="F5A623"/>
                </a:solidFill>
              </a:rPr>
              <a:t>BÀI TẬP MÔN HỌC</a:t>
            </a:r>
            <a:endParaRPr lang="en-US" sz="1100" dirty="0"/>
          </a:p>
        </p:txBody>
      </p:sp>
      <p:sp>
        <p:nvSpPr>
          <p:cNvPr id="6" name="Text 4"/>
          <p:cNvSpPr/>
          <p:nvPr/>
        </p:nvSpPr>
        <p:spPr>
          <a:xfrm>
            <a:off x="274320" y="868680"/>
            <a:ext cx="7772400" cy="1737360"/>
          </a:xfrm>
          <a:prstGeom prst="rect">
            <a:avLst/>
          </a:prstGeom>
          <a:noFill/>
          <a:ln/>
        </p:spPr>
        <p:txBody>
          <a:bodyPr wrap="square" lIns="0" tIns="0" rIns="0" bIns="0" rtlCol="0" anchor="ctr"/>
          <a:lstStyle/>
          <a:p>
            <a:pPr indent="0" marL="0">
              <a:buNone/>
            </a:pPr>
            <a:r>
              <a:rPr lang="en-US" sz="4000" b="1" dirty="0">
                <a:solidFill>
                  <a:srgbClr val="FFFFFF"/>
                </a:solidFill>
              </a:rPr>
              <a:t>THIẾT KẾ SINH MẪU</a:t>
            </a:r>
            <a:endParaRPr lang="en-US" sz="4000" dirty="0"/>
          </a:p>
          <a:p>
            <a:pPr indent="0" marL="0">
              <a:buNone/>
            </a:pPr>
            <a:r>
              <a:rPr lang="en-US" sz="4000" b="1" dirty="0">
                <a:solidFill>
                  <a:srgbClr val="FFFFFF"/>
                </a:solidFill>
              </a:rPr>
              <a:t>DO AI ĐIỀU KHIỂN</a:t>
            </a:r>
            <a:endParaRPr lang="en-US" sz="4000" dirty="0"/>
          </a:p>
        </p:txBody>
      </p:sp>
      <p:sp>
        <p:nvSpPr>
          <p:cNvPr id="7" name="Text 5"/>
          <p:cNvSpPr/>
          <p:nvPr/>
        </p:nvSpPr>
        <p:spPr>
          <a:xfrm>
            <a:off x="274320" y="2697480"/>
            <a:ext cx="7315200" cy="502920"/>
          </a:xfrm>
          <a:prstGeom prst="rect">
            <a:avLst/>
          </a:prstGeom>
          <a:noFill/>
          <a:ln/>
        </p:spPr>
        <p:txBody>
          <a:bodyPr wrap="square" lIns="0" tIns="0" rIns="0" bIns="0" rtlCol="0" anchor="ctr"/>
          <a:lstStyle/>
          <a:p>
            <a:pPr indent="0" marL="0">
              <a:buNone/>
            </a:pPr>
            <a:r>
              <a:rPr lang="en-US" sz="2000" i="1" dirty="0">
                <a:solidFill>
                  <a:srgbClr val="F5A623"/>
                </a:solidFill>
              </a:rPr>
              <a:t>Ứng dụng trên sản phẩm: Giá đỡ kết cấu</a:t>
            </a:r>
            <a:endParaRPr lang="en-US" sz="2000" dirty="0"/>
          </a:p>
        </p:txBody>
      </p:sp>
      <p:sp>
        <p:nvSpPr>
          <p:cNvPr id="8" name="Shape 6"/>
          <p:cNvSpPr/>
          <p:nvPr/>
        </p:nvSpPr>
        <p:spPr>
          <a:xfrm>
            <a:off x="274320" y="3291840"/>
            <a:ext cx="5943600" cy="36576"/>
          </a:xfrm>
          <a:prstGeom prst="rect">
            <a:avLst/>
          </a:prstGeom>
          <a:solidFill>
            <a:srgbClr val="E8750A">
              <a:alpha val="60000"/>
            </a:srgbClr>
          </a:solidFill>
          <a:ln w="12700">
            <a:solidFill>
              <a:srgbClr val="E8750A"/>
            </a:solidFill>
            <a:prstDash val="solid"/>
          </a:ln>
        </p:spPr>
      </p:sp>
      <p:sp>
        <p:nvSpPr>
          <p:cNvPr id="9" name="Text 7"/>
          <p:cNvSpPr/>
          <p:nvPr/>
        </p:nvSpPr>
        <p:spPr>
          <a:xfrm>
            <a:off x="274320" y="3429000"/>
            <a:ext cx="8229600" cy="365760"/>
          </a:xfrm>
          <a:prstGeom prst="rect">
            <a:avLst/>
          </a:prstGeom>
          <a:noFill/>
          <a:ln/>
        </p:spPr>
        <p:txBody>
          <a:bodyPr wrap="square" lIns="0" tIns="0" rIns="0" bIns="0" rtlCol="0" anchor="ctr"/>
          <a:lstStyle/>
          <a:p>
            <a:pPr indent="0" marL="0">
              <a:buNone/>
            </a:pPr>
            <a:r>
              <a:rPr lang="en-US" sz="1200" dirty="0">
                <a:solidFill>
                  <a:srgbClr val="E2E8F0"/>
                </a:solidFill>
              </a:rPr>
              <a:t>Generative Design  |  </a:t>
            </a:r>
            <a:pPr indent="0" marL="0">
              <a:buNone/>
            </a:pPr>
            <a:r>
              <a:rPr lang="en-US" sz="1200" dirty="0">
                <a:solidFill>
                  <a:srgbClr val="E2E8F0"/>
                </a:solidFill>
              </a:rPr>
              <a:t>Autodesk Fusion 360  |  </a:t>
            </a:r>
            <a:pPr indent="0" marL="0">
              <a:buNone/>
            </a:pPr>
            <a:r>
              <a:rPr lang="en-US" sz="1200" dirty="0">
                <a:solidFill>
                  <a:srgbClr val="F5A623"/>
                </a:solidFill>
              </a:rPr>
              <a:t>AI-Driven Optimization</a:t>
            </a:r>
            <a:endParaRPr lang="en-US" sz="1200" dirty="0"/>
          </a:p>
        </p:txBody>
      </p:sp>
      <p:sp>
        <p:nvSpPr>
          <p:cNvPr id="10" name="Shape 8"/>
          <p:cNvSpPr/>
          <p:nvPr/>
        </p:nvSpPr>
        <p:spPr>
          <a:xfrm>
            <a:off x="0" y="4846320"/>
            <a:ext cx="9144000" cy="297180"/>
          </a:xfrm>
          <a:prstGeom prst="rect">
            <a:avLst/>
          </a:prstGeom>
          <a:solidFill>
            <a:srgbClr val="253660"/>
          </a:solidFill>
          <a:ln w="12700">
            <a:solidFill>
              <a:srgbClr val="253660"/>
            </a:solidFill>
            <a:prstDash val="solid"/>
          </a:ln>
        </p:spPr>
      </p:sp>
      <p:sp>
        <p:nvSpPr>
          <p:cNvPr id="11" name="Text 9"/>
          <p:cNvSpPr/>
          <p:nvPr/>
        </p:nvSpPr>
        <p:spPr>
          <a:xfrm>
            <a:off x="182880" y="4846320"/>
            <a:ext cx="8778240" cy="297180"/>
          </a:xfrm>
          <a:prstGeom prst="rect">
            <a:avLst/>
          </a:prstGeom>
          <a:noFill/>
          <a:ln/>
        </p:spPr>
        <p:txBody>
          <a:bodyPr wrap="square" lIns="0" tIns="0" rIns="0" bIns="0" rtlCol="0" anchor="ctr"/>
          <a:lstStyle/>
          <a:p>
            <a:pPr indent="0" marL="0">
              <a:buNone/>
            </a:pPr>
            <a:r>
              <a:rPr lang="en-US" sz="1000" dirty="0">
                <a:solidFill>
                  <a:srgbClr val="E2E8F0"/>
                </a:solidFill>
              </a:rPr>
              <a:t>Thiết kế Sinh mẫu (Generative Design) — Giá đỡ kết cấu</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B4C"/>
          </a:solidFill>
          <a:ln w="12700">
            <a:solidFill>
              <a:srgbClr val="1A2B4C"/>
            </a:solidFill>
            <a:prstDash val="solid"/>
          </a:ln>
        </p:spPr>
      </p:sp>
      <p:sp>
        <p:nvSpPr>
          <p:cNvPr id="3" name="Text 1"/>
          <p:cNvSpPr/>
          <p:nvPr/>
        </p:nvSpPr>
        <p:spPr>
          <a:xfrm>
            <a:off x="320040" y="0"/>
            <a:ext cx="8229600" cy="777240"/>
          </a:xfrm>
          <a:prstGeom prst="rect">
            <a:avLst/>
          </a:prstGeom>
          <a:noFill/>
          <a:ln/>
        </p:spPr>
        <p:txBody>
          <a:bodyPr wrap="square" lIns="0" tIns="0" rIns="0" bIns="0" rtlCol="0" anchor="ctr"/>
          <a:lstStyle/>
          <a:p>
            <a:pPr indent="0" marL="0">
              <a:buNone/>
            </a:pPr>
            <a:r>
              <a:rPr lang="en-US" sz="2200" b="1" dirty="0">
                <a:solidFill>
                  <a:srgbClr val="FFFFFF"/>
                </a:solidFill>
              </a:rPr>
              <a:t>MÔ TẢ BÀI TOÁN THIẾT KẾ</a:t>
            </a:r>
            <a:endParaRPr lang="en-US" sz="2200" dirty="0"/>
          </a:p>
        </p:txBody>
      </p:sp>
      <p:sp>
        <p:nvSpPr>
          <p:cNvPr id="4" name="Text 2"/>
          <p:cNvSpPr/>
          <p:nvPr/>
        </p:nvSpPr>
        <p:spPr>
          <a:xfrm>
            <a:off x="7772400" y="0"/>
            <a:ext cx="1188720" cy="777240"/>
          </a:xfrm>
          <a:prstGeom prst="rect">
            <a:avLst/>
          </a:prstGeom>
          <a:noFill/>
          <a:ln/>
        </p:spPr>
        <p:txBody>
          <a:bodyPr wrap="square" lIns="0" tIns="0" rIns="0" bIns="0" rtlCol="0" anchor="ctr"/>
          <a:lstStyle/>
          <a:p>
            <a:pPr algn="r" indent="0" marL="0">
              <a:buNone/>
            </a:pPr>
            <a:r>
              <a:rPr lang="en-US" sz="1000" dirty="0">
                <a:solidFill>
                  <a:srgbClr val="F5A623"/>
                </a:solidFill>
              </a:rPr>
              <a:t>Slide 2 / 5</a:t>
            </a:r>
            <a:endParaRPr lang="en-US" sz="1000" dirty="0"/>
          </a:p>
        </p:txBody>
      </p:sp>
      <p:sp>
        <p:nvSpPr>
          <p:cNvPr id="5" name="Shape 3"/>
          <p:cNvSpPr/>
          <p:nvPr/>
        </p:nvSpPr>
        <p:spPr>
          <a:xfrm>
            <a:off x="0" y="777240"/>
            <a:ext cx="73152" cy="4366260"/>
          </a:xfrm>
          <a:prstGeom prst="rect">
            <a:avLst/>
          </a:prstGeom>
          <a:solidFill>
            <a:srgbClr val="E8750A"/>
          </a:solidFill>
          <a:ln w="12700">
            <a:solidFill>
              <a:srgbClr val="E8750A"/>
            </a:solidFill>
            <a:prstDash val="solid"/>
          </a:ln>
        </p:spPr>
      </p:sp>
      <p:sp>
        <p:nvSpPr>
          <p:cNvPr id="6" name="Shape 4"/>
          <p:cNvSpPr/>
          <p:nvPr/>
        </p:nvSpPr>
        <p:spPr>
          <a:xfrm>
            <a:off x="228600" y="914400"/>
            <a:ext cx="4023360" cy="411480"/>
          </a:xfrm>
          <a:prstGeom prst="rect">
            <a:avLst/>
          </a:prstGeom>
          <a:solidFill>
            <a:srgbClr val="1A2B4C"/>
          </a:solidFill>
          <a:ln w="12700">
            <a:solidFill>
              <a:srgbClr val="1A2B4C"/>
            </a:solidFill>
            <a:prstDash val="solid"/>
          </a:ln>
        </p:spPr>
      </p:sp>
      <p:sp>
        <p:nvSpPr>
          <p:cNvPr id="7" name="Text 5"/>
          <p:cNvSpPr/>
          <p:nvPr/>
        </p:nvSpPr>
        <p:spPr>
          <a:xfrm>
            <a:off x="274320" y="914400"/>
            <a:ext cx="3931920" cy="411480"/>
          </a:xfrm>
          <a:prstGeom prst="rect">
            <a:avLst/>
          </a:prstGeom>
          <a:noFill/>
          <a:ln/>
        </p:spPr>
        <p:txBody>
          <a:bodyPr wrap="square" lIns="63500" tIns="63500" rIns="63500" bIns="63500" rtlCol="0" anchor="ctr"/>
          <a:lstStyle/>
          <a:p>
            <a:pPr indent="0" marL="0">
              <a:buNone/>
            </a:pPr>
            <a:r>
              <a:rPr lang="en-US" sz="1300" b="1" dirty="0">
                <a:solidFill>
                  <a:srgbClr val="FFFFFF"/>
                </a:solidFill>
              </a:rPr>
              <a:t>🔩  Sản phẩm được chọn: Giá đỡ kết cấu</a:t>
            </a:r>
            <a:endParaRPr lang="en-US" sz="1300" dirty="0"/>
          </a:p>
        </p:txBody>
      </p:sp>
      <p:sp>
        <p:nvSpPr>
          <p:cNvPr id="8" name="Text 6"/>
          <p:cNvSpPr/>
          <p:nvPr/>
        </p:nvSpPr>
        <p:spPr>
          <a:xfrm>
            <a:off x="228600" y="1371600"/>
            <a:ext cx="4114800" cy="868680"/>
          </a:xfrm>
          <a:prstGeom prst="rect">
            <a:avLst/>
          </a:prstGeom>
          <a:noFill/>
          <a:ln/>
        </p:spPr>
        <p:txBody>
          <a:bodyPr wrap="square" lIns="63500" tIns="63500" rIns="63500" bIns="63500" rtlCol="0" anchor="ctr"/>
          <a:lstStyle/>
          <a:p>
            <a:pPr algn="just" indent="0" marL="0">
              <a:buNone/>
            </a:pPr>
            <a:r>
              <a:rPr lang="en-US" sz="1200" dirty="0">
                <a:solidFill>
                  <a:srgbClr val="1E293B"/>
                </a:solidFill>
              </a:rPr>
              <a:t>Giá đỡ kết cấu là linh kiện dùng để gắn tải trọng (kệ, thiết bị điện tử, máy móc) lên tường hoặc khung đỡ. Yêu cầu chịu lực cao trong khi vẫn phải gọn nhẹ và tiết kiệm vật liệu.</a:t>
            </a:r>
            <a:endParaRPr lang="en-US" sz="1200" dirty="0"/>
          </a:p>
        </p:txBody>
      </p:sp>
      <p:sp>
        <p:nvSpPr>
          <p:cNvPr id="9" name="Shape 7"/>
          <p:cNvSpPr/>
          <p:nvPr/>
        </p:nvSpPr>
        <p:spPr>
          <a:xfrm>
            <a:off x="228600" y="2331720"/>
            <a:ext cx="4023360" cy="365760"/>
          </a:xfrm>
          <a:prstGeom prst="rect">
            <a:avLst/>
          </a:prstGeom>
          <a:solidFill>
            <a:srgbClr val="E8750A"/>
          </a:solidFill>
          <a:ln w="12700">
            <a:solidFill>
              <a:srgbClr val="E8750A"/>
            </a:solidFill>
            <a:prstDash val="solid"/>
          </a:ln>
        </p:spPr>
      </p:sp>
      <p:sp>
        <p:nvSpPr>
          <p:cNvPr id="10" name="Text 8"/>
          <p:cNvSpPr/>
          <p:nvPr/>
        </p:nvSpPr>
        <p:spPr>
          <a:xfrm>
            <a:off x="274320" y="2331720"/>
            <a:ext cx="3931920" cy="365760"/>
          </a:xfrm>
          <a:prstGeom prst="rect">
            <a:avLst/>
          </a:prstGeom>
          <a:noFill/>
          <a:ln/>
        </p:spPr>
        <p:txBody>
          <a:bodyPr wrap="square" lIns="63500" tIns="63500" rIns="63500" bIns="63500" rtlCol="0" anchor="ctr"/>
          <a:lstStyle/>
          <a:p>
            <a:pPr indent="0" marL="0">
              <a:buNone/>
            </a:pPr>
            <a:r>
              <a:rPr lang="en-US" sz="1300" b="1" dirty="0">
                <a:solidFill>
                  <a:srgbClr val="FFFFFF"/>
                </a:solidFill>
              </a:rPr>
              <a:t>🎯  Mục tiêu tối ưu hóa</a:t>
            </a:r>
            <a:endParaRPr lang="en-US" sz="1300" dirty="0"/>
          </a:p>
        </p:txBody>
      </p:sp>
      <p:sp>
        <p:nvSpPr>
          <p:cNvPr id="11" name="Text 9"/>
          <p:cNvSpPr/>
          <p:nvPr/>
        </p:nvSpPr>
        <p:spPr>
          <a:xfrm>
            <a:off x="274320" y="2743200"/>
            <a:ext cx="3977640" cy="1280160"/>
          </a:xfrm>
          <a:prstGeom prst="rect">
            <a:avLst/>
          </a:prstGeom>
          <a:noFill/>
          <a:ln/>
        </p:spPr>
        <p:txBody>
          <a:bodyPr wrap="square" lIns="63500" tIns="63500" rIns="63500" bIns="63500" rtlCol="0" anchor="ctr"/>
          <a:lstStyle/>
          <a:p>
            <a:pPr marL="342900" indent="-342900">
              <a:buSzPct val="100000"/>
              <a:buChar char="•"/>
            </a:pPr>
            <a:r>
              <a:rPr lang="en-US" sz="1150" dirty="0">
                <a:solidFill>
                  <a:srgbClr val="1E293B"/>
                </a:solidFill>
              </a:rPr>
              <a:t>Giảm khối lượng tối đa (≥ 40%) so với thiết kế truyền thống</a:t>
            </a:r>
            <a:endParaRPr lang="en-US" sz="1150" dirty="0"/>
          </a:p>
          <a:p>
            <a:pPr marL="342900" indent="-342900">
              <a:buSzPct val="100000"/>
              <a:buChar char="•"/>
            </a:pPr>
            <a:r>
              <a:rPr lang="en-US" sz="1150" dirty="0">
                <a:solidFill>
                  <a:srgbClr val="1E293B"/>
                </a:solidFill>
              </a:rPr>
              <a:t>Tối đa hóa độ cứng vững (Stiffness) của kết cấu</a:t>
            </a:r>
            <a:endParaRPr lang="en-US" sz="1150" dirty="0"/>
          </a:p>
          <a:p>
            <a:pPr marL="342900" indent="-342900">
              <a:buSzPct val="100000"/>
              <a:buChar char="•"/>
            </a:pPr>
            <a:r>
              <a:rPr lang="en-US" sz="1150" dirty="0">
                <a:solidFill>
                  <a:srgbClr val="1E293B"/>
                </a:solidFill>
              </a:rPr>
              <a:t>Giảm ứng suất tập trung tại các góc cạnh nhạy cảm</a:t>
            </a:r>
            <a:endParaRPr lang="en-US" sz="1150" dirty="0"/>
          </a:p>
          <a:p>
            <a:pPr marL="342900" indent="-342900">
              <a:buSzPct val="100000"/>
              <a:buChar char="•"/>
            </a:pPr>
            <a:r>
              <a:rPr lang="en-US" sz="1150" dirty="0">
                <a:solidFill>
                  <a:srgbClr val="1E293B"/>
                </a:solidFill>
              </a:rPr>
              <a:t>Đạt hệ số an toàn SF ≥ 2.5 với tải trọng tĩnh</a:t>
            </a:r>
            <a:endParaRPr lang="en-US" sz="1150" dirty="0"/>
          </a:p>
        </p:txBody>
      </p:sp>
      <p:sp>
        <p:nvSpPr>
          <p:cNvPr id="12" name="Shape 10"/>
          <p:cNvSpPr/>
          <p:nvPr/>
        </p:nvSpPr>
        <p:spPr>
          <a:xfrm>
            <a:off x="4572000" y="914400"/>
            <a:ext cx="4297680" cy="411480"/>
          </a:xfrm>
          <a:prstGeom prst="rect">
            <a:avLst/>
          </a:prstGeom>
          <a:solidFill>
            <a:srgbClr val="0D9488"/>
          </a:solidFill>
          <a:ln w="12700">
            <a:solidFill>
              <a:srgbClr val="0D9488"/>
            </a:solidFill>
            <a:prstDash val="solid"/>
          </a:ln>
        </p:spPr>
      </p:sp>
      <p:sp>
        <p:nvSpPr>
          <p:cNvPr id="13" name="Text 11"/>
          <p:cNvSpPr/>
          <p:nvPr/>
        </p:nvSpPr>
        <p:spPr>
          <a:xfrm>
            <a:off x="4617720" y="914400"/>
            <a:ext cx="4206240" cy="411480"/>
          </a:xfrm>
          <a:prstGeom prst="rect">
            <a:avLst/>
          </a:prstGeom>
          <a:noFill/>
          <a:ln/>
        </p:spPr>
        <p:txBody>
          <a:bodyPr wrap="square" lIns="63500" tIns="63500" rIns="63500" bIns="63500" rtlCol="0" anchor="ctr"/>
          <a:lstStyle/>
          <a:p>
            <a:pPr indent="0" marL="0">
              <a:buNone/>
            </a:pPr>
            <a:r>
              <a:rPr lang="en-US" sz="1300" b="1" dirty="0">
                <a:solidFill>
                  <a:srgbClr val="FFFFFF"/>
                </a:solidFill>
              </a:rPr>
              <a:t>📐  Thông số kỹ thuật cơ bản</a:t>
            </a:r>
            <a:endParaRPr lang="en-US" sz="1300" dirty="0"/>
          </a:p>
        </p:txBody>
      </p:sp>
      <p:sp>
        <p:nvSpPr>
          <p:cNvPr id="14" name="Shape 12"/>
          <p:cNvSpPr/>
          <p:nvPr/>
        </p:nvSpPr>
        <p:spPr>
          <a:xfrm>
            <a:off x="4572000" y="1417320"/>
            <a:ext cx="4297680" cy="347472"/>
          </a:xfrm>
          <a:prstGeom prst="rect">
            <a:avLst/>
          </a:prstGeom>
          <a:solidFill>
            <a:srgbClr val="FFFFFF"/>
          </a:solidFill>
          <a:ln w="6350">
            <a:solidFill>
              <a:srgbClr val="E2E8F0"/>
            </a:solidFill>
            <a:prstDash val="solid"/>
          </a:ln>
        </p:spPr>
      </p:sp>
      <p:sp>
        <p:nvSpPr>
          <p:cNvPr id="15" name="Text 13"/>
          <p:cNvSpPr/>
          <p:nvPr/>
        </p:nvSpPr>
        <p:spPr>
          <a:xfrm>
            <a:off x="4617720" y="1417320"/>
            <a:ext cx="2377440" cy="347472"/>
          </a:xfrm>
          <a:prstGeom prst="rect">
            <a:avLst/>
          </a:prstGeom>
          <a:noFill/>
          <a:ln/>
        </p:spPr>
        <p:txBody>
          <a:bodyPr wrap="square" lIns="50800" tIns="50800" rIns="50800" bIns="50800" rtlCol="0" anchor="ctr"/>
          <a:lstStyle/>
          <a:p>
            <a:pPr indent="0" marL="0">
              <a:buNone/>
            </a:pPr>
            <a:r>
              <a:rPr lang="en-US" sz="1100" dirty="0">
                <a:solidFill>
                  <a:srgbClr val="64748B"/>
                </a:solidFill>
              </a:rPr>
              <a:t>Kích thước tổng</a:t>
            </a:r>
            <a:endParaRPr lang="en-US" sz="1100" dirty="0"/>
          </a:p>
        </p:txBody>
      </p:sp>
      <p:sp>
        <p:nvSpPr>
          <p:cNvPr id="16" name="Text 14"/>
          <p:cNvSpPr/>
          <p:nvPr/>
        </p:nvSpPr>
        <p:spPr>
          <a:xfrm>
            <a:off x="6995160" y="1417320"/>
            <a:ext cx="1828800" cy="347472"/>
          </a:xfrm>
          <a:prstGeom prst="rect">
            <a:avLst/>
          </a:prstGeom>
          <a:noFill/>
          <a:ln/>
        </p:spPr>
        <p:txBody>
          <a:bodyPr wrap="square" lIns="50800" tIns="50800" rIns="50800" bIns="50800" rtlCol="0" anchor="ctr"/>
          <a:lstStyle/>
          <a:p>
            <a:pPr indent="0" marL="0">
              <a:buNone/>
            </a:pPr>
            <a:r>
              <a:rPr lang="en-US" sz="1100" b="1" dirty="0">
                <a:solidFill>
                  <a:srgbClr val="1E293B"/>
                </a:solidFill>
              </a:rPr>
              <a:t>200 × 150 × 80 mm</a:t>
            </a:r>
            <a:endParaRPr lang="en-US" sz="1100" dirty="0"/>
          </a:p>
        </p:txBody>
      </p:sp>
      <p:sp>
        <p:nvSpPr>
          <p:cNvPr id="17" name="Shape 15"/>
          <p:cNvSpPr/>
          <p:nvPr/>
        </p:nvSpPr>
        <p:spPr>
          <a:xfrm>
            <a:off x="4572000" y="1764792"/>
            <a:ext cx="4297680" cy="347472"/>
          </a:xfrm>
          <a:prstGeom prst="rect">
            <a:avLst/>
          </a:prstGeom>
          <a:solidFill>
            <a:srgbClr val="EBF0FA"/>
          </a:solidFill>
          <a:ln w="6350">
            <a:solidFill>
              <a:srgbClr val="E2E8F0"/>
            </a:solidFill>
            <a:prstDash val="solid"/>
          </a:ln>
        </p:spPr>
      </p:sp>
      <p:sp>
        <p:nvSpPr>
          <p:cNvPr id="18" name="Text 16"/>
          <p:cNvSpPr/>
          <p:nvPr/>
        </p:nvSpPr>
        <p:spPr>
          <a:xfrm>
            <a:off x="4617720" y="1764792"/>
            <a:ext cx="2377440" cy="347472"/>
          </a:xfrm>
          <a:prstGeom prst="rect">
            <a:avLst/>
          </a:prstGeom>
          <a:noFill/>
          <a:ln/>
        </p:spPr>
        <p:txBody>
          <a:bodyPr wrap="square" lIns="50800" tIns="50800" rIns="50800" bIns="50800" rtlCol="0" anchor="ctr"/>
          <a:lstStyle/>
          <a:p>
            <a:pPr indent="0" marL="0">
              <a:buNone/>
            </a:pPr>
            <a:r>
              <a:rPr lang="en-US" sz="1100" dirty="0">
                <a:solidFill>
                  <a:srgbClr val="64748B"/>
                </a:solidFill>
              </a:rPr>
              <a:t>Vật liệu</a:t>
            </a:r>
            <a:endParaRPr lang="en-US" sz="1100" dirty="0"/>
          </a:p>
        </p:txBody>
      </p:sp>
      <p:sp>
        <p:nvSpPr>
          <p:cNvPr id="19" name="Text 17"/>
          <p:cNvSpPr/>
          <p:nvPr/>
        </p:nvSpPr>
        <p:spPr>
          <a:xfrm>
            <a:off x="6995160" y="1764792"/>
            <a:ext cx="1828800" cy="347472"/>
          </a:xfrm>
          <a:prstGeom prst="rect">
            <a:avLst/>
          </a:prstGeom>
          <a:noFill/>
          <a:ln/>
        </p:spPr>
        <p:txBody>
          <a:bodyPr wrap="square" lIns="50800" tIns="50800" rIns="50800" bIns="50800" rtlCol="0" anchor="ctr"/>
          <a:lstStyle/>
          <a:p>
            <a:pPr indent="0" marL="0">
              <a:buNone/>
            </a:pPr>
            <a:r>
              <a:rPr lang="en-US" sz="1100" b="1" dirty="0">
                <a:solidFill>
                  <a:srgbClr val="1E293B"/>
                </a:solidFill>
              </a:rPr>
              <a:t>Nhôm hợp kim 6061-T6</a:t>
            </a:r>
            <a:endParaRPr lang="en-US" sz="1100" dirty="0"/>
          </a:p>
        </p:txBody>
      </p:sp>
      <p:sp>
        <p:nvSpPr>
          <p:cNvPr id="20" name="Shape 18"/>
          <p:cNvSpPr/>
          <p:nvPr/>
        </p:nvSpPr>
        <p:spPr>
          <a:xfrm>
            <a:off x="4572000" y="2112264"/>
            <a:ext cx="4297680" cy="347472"/>
          </a:xfrm>
          <a:prstGeom prst="rect">
            <a:avLst/>
          </a:prstGeom>
          <a:solidFill>
            <a:srgbClr val="FFFFFF"/>
          </a:solidFill>
          <a:ln w="6350">
            <a:solidFill>
              <a:srgbClr val="E2E8F0"/>
            </a:solidFill>
            <a:prstDash val="solid"/>
          </a:ln>
        </p:spPr>
      </p:sp>
      <p:sp>
        <p:nvSpPr>
          <p:cNvPr id="21" name="Text 19"/>
          <p:cNvSpPr/>
          <p:nvPr/>
        </p:nvSpPr>
        <p:spPr>
          <a:xfrm>
            <a:off x="4617720" y="2112264"/>
            <a:ext cx="2377440" cy="347472"/>
          </a:xfrm>
          <a:prstGeom prst="rect">
            <a:avLst/>
          </a:prstGeom>
          <a:noFill/>
          <a:ln/>
        </p:spPr>
        <p:txBody>
          <a:bodyPr wrap="square" lIns="50800" tIns="50800" rIns="50800" bIns="50800" rtlCol="0" anchor="ctr"/>
          <a:lstStyle/>
          <a:p>
            <a:pPr indent="0" marL="0">
              <a:buNone/>
            </a:pPr>
            <a:r>
              <a:rPr lang="en-US" sz="1100" dirty="0">
                <a:solidFill>
                  <a:srgbClr val="64748B"/>
                </a:solidFill>
              </a:rPr>
              <a:t>Tải trọng làm việc</a:t>
            </a:r>
            <a:endParaRPr lang="en-US" sz="1100" dirty="0"/>
          </a:p>
        </p:txBody>
      </p:sp>
      <p:sp>
        <p:nvSpPr>
          <p:cNvPr id="22" name="Text 20"/>
          <p:cNvSpPr/>
          <p:nvPr/>
        </p:nvSpPr>
        <p:spPr>
          <a:xfrm>
            <a:off x="6995160" y="2112264"/>
            <a:ext cx="1828800" cy="347472"/>
          </a:xfrm>
          <a:prstGeom prst="rect">
            <a:avLst/>
          </a:prstGeom>
          <a:noFill/>
          <a:ln/>
        </p:spPr>
        <p:txBody>
          <a:bodyPr wrap="square" lIns="50800" tIns="50800" rIns="50800" bIns="50800" rtlCol="0" anchor="ctr"/>
          <a:lstStyle/>
          <a:p>
            <a:pPr indent="0" marL="0">
              <a:buNone/>
            </a:pPr>
            <a:r>
              <a:rPr lang="en-US" sz="1100" b="1" dirty="0">
                <a:solidFill>
                  <a:srgbClr val="1E293B"/>
                </a:solidFill>
              </a:rPr>
              <a:t>500 N (hướng xuống)</a:t>
            </a:r>
            <a:endParaRPr lang="en-US" sz="1100" dirty="0"/>
          </a:p>
        </p:txBody>
      </p:sp>
      <p:sp>
        <p:nvSpPr>
          <p:cNvPr id="23" name="Shape 21"/>
          <p:cNvSpPr/>
          <p:nvPr/>
        </p:nvSpPr>
        <p:spPr>
          <a:xfrm>
            <a:off x="4572000" y="2459736"/>
            <a:ext cx="4297680" cy="347472"/>
          </a:xfrm>
          <a:prstGeom prst="rect">
            <a:avLst/>
          </a:prstGeom>
          <a:solidFill>
            <a:srgbClr val="EBF0FA"/>
          </a:solidFill>
          <a:ln w="6350">
            <a:solidFill>
              <a:srgbClr val="E2E8F0"/>
            </a:solidFill>
            <a:prstDash val="solid"/>
          </a:ln>
        </p:spPr>
      </p:sp>
      <p:sp>
        <p:nvSpPr>
          <p:cNvPr id="24" name="Text 22"/>
          <p:cNvSpPr/>
          <p:nvPr/>
        </p:nvSpPr>
        <p:spPr>
          <a:xfrm>
            <a:off x="4617720" y="2459736"/>
            <a:ext cx="2377440" cy="347472"/>
          </a:xfrm>
          <a:prstGeom prst="rect">
            <a:avLst/>
          </a:prstGeom>
          <a:noFill/>
          <a:ln/>
        </p:spPr>
        <p:txBody>
          <a:bodyPr wrap="square" lIns="50800" tIns="50800" rIns="50800" bIns="50800" rtlCol="0" anchor="ctr"/>
          <a:lstStyle/>
          <a:p>
            <a:pPr indent="0" marL="0">
              <a:buNone/>
            </a:pPr>
            <a:r>
              <a:rPr lang="en-US" sz="1100" dirty="0">
                <a:solidFill>
                  <a:srgbClr val="64748B"/>
                </a:solidFill>
              </a:rPr>
              <a:t>Môi trường</a:t>
            </a:r>
            <a:endParaRPr lang="en-US" sz="1100" dirty="0"/>
          </a:p>
        </p:txBody>
      </p:sp>
      <p:sp>
        <p:nvSpPr>
          <p:cNvPr id="25" name="Text 23"/>
          <p:cNvSpPr/>
          <p:nvPr/>
        </p:nvSpPr>
        <p:spPr>
          <a:xfrm>
            <a:off x="6995160" y="2459736"/>
            <a:ext cx="1828800" cy="347472"/>
          </a:xfrm>
          <a:prstGeom prst="rect">
            <a:avLst/>
          </a:prstGeom>
          <a:noFill/>
          <a:ln/>
        </p:spPr>
        <p:txBody>
          <a:bodyPr wrap="square" lIns="50800" tIns="50800" rIns="50800" bIns="50800" rtlCol="0" anchor="ctr"/>
          <a:lstStyle/>
          <a:p>
            <a:pPr indent="0" marL="0">
              <a:buNone/>
            </a:pPr>
            <a:r>
              <a:rPr lang="en-US" sz="1100" b="1" dirty="0">
                <a:solidFill>
                  <a:srgbClr val="1E293B"/>
                </a:solidFill>
              </a:rPr>
              <a:t>Trong nhà, nhiệt độ thường</a:t>
            </a:r>
            <a:endParaRPr lang="en-US" sz="1100" dirty="0"/>
          </a:p>
        </p:txBody>
      </p:sp>
      <p:sp>
        <p:nvSpPr>
          <p:cNvPr id="26" name="Shape 24"/>
          <p:cNvSpPr/>
          <p:nvPr/>
        </p:nvSpPr>
        <p:spPr>
          <a:xfrm>
            <a:off x="4572000" y="2807208"/>
            <a:ext cx="4297680" cy="347472"/>
          </a:xfrm>
          <a:prstGeom prst="rect">
            <a:avLst/>
          </a:prstGeom>
          <a:solidFill>
            <a:srgbClr val="FFFFFF"/>
          </a:solidFill>
          <a:ln w="6350">
            <a:solidFill>
              <a:srgbClr val="E2E8F0"/>
            </a:solidFill>
            <a:prstDash val="solid"/>
          </a:ln>
        </p:spPr>
      </p:sp>
      <p:sp>
        <p:nvSpPr>
          <p:cNvPr id="27" name="Text 25"/>
          <p:cNvSpPr/>
          <p:nvPr/>
        </p:nvSpPr>
        <p:spPr>
          <a:xfrm>
            <a:off x="4617720" y="2807208"/>
            <a:ext cx="2377440" cy="347472"/>
          </a:xfrm>
          <a:prstGeom prst="rect">
            <a:avLst/>
          </a:prstGeom>
          <a:noFill/>
          <a:ln/>
        </p:spPr>
        <p:txBody>
          <a:bodyPr wrap="square" lIns="50800" tIns="50800" rIns="50800" bIns="50800" rtlCol="0" anchor="ctr"/>
          <a:lstStyle/>
          <a:p>
            <a:pPr indent="0" marL="0">
              <a:buNone/>
            </a:pPr>
            <a:r>
              <a:rPr lang="en-US" sz="1100" dirty="0">
                <a:solidFill>
                  <a:srgbClr val="64748B"/>
                </a:solidFill>
              </a:rPr>
              <a:t>Phương pháp gia công</a:t>
            </a:r>
            <a:endParaRPr lang="en-US" sz="1100" dirty="0"/>
          </a:p>
        </p:txBody>
      </p:sp>
      <p:sp>
        <p:nvSpPr>
          <p:cNvPr id="28" name="Text 26"/>
          <p:cNvSpPr/>
          <p:nvPr/>
        </p:nvSpPr>
        <p:spPr>
          <a:xfrm>
            <a:off x="6995160" y="2807208"/>
            <a:ext cx="1828800" cy="347472"/>
          </a:xfrm>
          <a:prstGeom prst="rect">
            <a:avLst/>
          </a:prstGeom>
          <a:noFill/>
          <a:ln/>
        </p:spPr>
        <p:txBody>
          <a:bodyPr wrap="square" lIns="50800" tIns="50800" rIns="50800" bIns="50800" rtlCol="0" anchor="ctr"/>
          <a:lstStyle/>
          <a:p>
            <a:pPr indent="0" marL="0">
              <a:buNone/>
            </a:pPr>
            <a:r>
              <a:rPr lang="en-US" sz="1100" b="1" dirty="0">
                <a:solidFill>
                  <a:srgbClr val="1E293B"/>
                </a:solidFill>
              </a:rPr>
              <a:t>In 3D / Phay CNC</a:t>
            </a:r>
            <a:endParaRPr lang="en-US" sz="1100" dirty="0"/>
          </a:p>
        </p:txBody>
      </p:sp>
      <p:sp>
        <p:nvSpPr>
          <p:cNvPr id="29" name="Shape 27"/>
          <p:cNvSpPr/>
          <p:nvPr/>
        </p:nvSpPr>
        <p:spPr>
          <a:xfrm>
            <a:off x="0" y="4846320"/>
            <a:ext cx="9144000" cy="297180"/>
          </a:xfrm>
          <a:prstGeom prst="rect">
            <a:avLst/>
          </a:prstGeom>
          <a:solidFill>
            <a:srgbClr val="1A2B4C"/>
          </a:solidFill>
          <a:ln w="12700">
            <a:solidFill>
              <a:srgbClr val="1A2B4C"/>
            </a:solidFill>
            <a:prstDash val="solid"/>
          </a:ln>
        </p:spPr>
      </p:sp>
      <p:sp>
        <p:nvSpPr>
          <p:cNvPr id="30" name="Text 28"/>
          <p:cNvSpPr/>
          <p:nvPr/>
        </p:nvSpPr>
        <p:spPr>
          <a:xfrm>
            <a:off x="182880" y="4846320"/>
            <a:ext cx="8778240" cy="297180"/>
          </a:xfrm>
          <a:prstGeom prst="rect">
            <a:avLst/>
          </a:prstGeom>
          <a:noFill/>
          <a:ln/>
        </p:spPr>
        <p:txBody>
          <a:bodyPr wrap="square" lIns="0" tIns="0" rIns="0" bIns="0" rtlCol="0" anchor="ctr"/>
          <a:lstStyle/>
          <a:p>
            <a:pPr indent="0" marL="0">
              <a:buNone/>
            </a:pPr>
            <a:r>
              <a:rPr lang="en-US" sz="1000" dirty="0">
                <a:solidFill>
                  <a:srgbClr val="E2E8F0"/>
                </a:solidFill>
              </a:rPr>
              <a:t>Thiết kế Sinh mẫu (Generative Design) — Giá đỡ kết cấu</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B4C"/>
          </a:solidFill>
          <a:ln w="12700">
            <a:solidFill>
              <a:srgbClr val="1A2B4C"/>
            </a:solidFill>
            <a:prstDash val="solid"/>
          </a:ln>
        </p:spPr>
      </p:sp>
      <p:sp>
        <p:nvSpPr>
          <p:cNvPr id="3" name="Text 1"/>
          <p:cNvSpPr/>
          <p:nvPr/>
        </p:nvSpPr>
        <p:spPr>
          <a:xfrm>
            <a:off x="320040" y="0"/>
            <a:ext cx="8229600" cy="777240"/>
          </a:xfrm>
          <a:prstGeom prst="rect">
            <a:avLst/>
          </a:prstGeom>
          <a:noFill/>
          <a:ln/>
        </p:spPr>
        <p:txBody>
          <a:bodyPr wrap="square" lIns="0" tIns="0" rIns="0" bIns="0" rtlCol="0" anchor="ctr"/>
          <a:lstStyle/>
          <a:p>
            <a:pPr indent="0" marL="0">
              <a:buNone/>
            </a:pPr>
            <a:r>
              <a:rPr lang="en-US" sz="2200" b="1" dirty="0">
                <a:solidFill>
                  <a:srgbClr val="FFFFFF"/>
                </a:solidFill>
              </a:rPr>
              <a:t>RÀNG BUỘC THIẾT KẾ</a:t>
            </a:r>
            <a:endParaRPr lang="en-US" sz="2200" dirty="0"/>
          </a:p>
        </p:txBody>
      </p:sp>
      <p:sp>
        <p:nvSpPr>
          <p:cNvPr id="4" name="Text 2"/>
          <p:cNvSpPr/>
          <p:nvPr/>
        </p:nvSpPr>
        <p:spPr>
          <a:xfrm>
            <a:off x="7772400" y="0"/>
            <a:ext cx="1188720" cy="777240"/>
          </a:xfrm>
          <a:prstGeom prst="rect">
            <a:avLst/>
          </a:prstGeom>
          <a:noFill/>
          <a:ln/>
        </p:spPr>
        <p:txBody>
          <a:bodyPr wrap="square" lIns="0" tIns="0" rIns="0" bIns="0" rtlCol="0" anchor="ctr"/>
          <a:lstStyle/>
          <a:p>
            <a:pPr algn="r" indent="0" marL="0">
              <a:buNone/>
            </a:pPr>
            <a:r>
              <a:rPr lang="en-US" sz="1000" dirty="0">
                <a:solidFill>
                  <a:srgbClr val="F5A623"/>
                </a:solidFill>
              </a:rPr>
              <a:t>Slide 3 / 5</a:t>
            </a:r>
            <a:endParaRPr lang="en-US" sz="1000" dirty="0"/>
          </a:p>
        </p:txBody>
      </p:sp>
      <p:sp>
        <p:nvSpPr>
          <p:cNvPr id="5" name="Shape 3"/>
          <p:cNvSpPr/>
          <p:nvPr/>
        </p:nvSpPr>
        <p:spPr>
          <a:xfrm>
            <a:off x="0" y="777240"/>
            <a:ext cx="73152" cy="4366260"/>
          </a:xfrm>
          <a:prstGeom prst="rect">
            <a:avLst/>
          </a:prstGeom>
          <a:solidFill>
            <a:srgbClr val="E8750A"/>
          </a:solidFill>
          <a:ln w="12700">
            <a:solidFill>
              <a:srgbClr val="E8750A"/>
            </a:solidFill>
            <a:prstDash val="solid"/>
          </a:ln>
        </p:spPr>
      </p:sp>
      <p:sp>
        <p:nvSpPr>
          <p:cNvPr id="6" name="Shape 4"/>
          <p:cNvSpPr/>
          <p:nvPr/>
        </p:nvSpPr>
        <p:spPr>
          <a:xfrm>
            <a:off x="228600" y="960120"/>
            <a:ext cx="2651760" cy="3566160"/>
          </a:xfrm>
          <a:prstGeom prst="rect">
            <a:avLst/>
          </a:prstGeom>
          <a:solidFill>
            <a:srgbClr val="FFFFFF"/>
          </a:solidFill>
          <a:ln w="10160">
            <a:solidFill>
              <a:srgbClr val="E2E8F0"/>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28600" y="960120"/>
            <a:ext cx="2651760" cy="457200"/>
          </a:xfrm>
          <a:prstGeom prst="rect">
            <a:avLst/>
          </a:prstGeom>
          <a:solidFill>
            <a:srgbClr val="1A2B4C"/>
          </a:solidFill>
          <a:ln w="12700">
            <a:solidFill>
              <a:srgbClr val="1A2B4C"/>
            </a:solidFill>
            <a:prstDash val="solid"/>
          </a:ln>
        </p:spPr>
      </p:sp>
      <p:sp>
        <p:nvSpPr>
          <p:cNvPr id="8" name="Text 6"/>
          <p:cNvSpPr/>
          <p:nvPr/>
        </p:nvSpPr>
        <p:spPr>
          <a:xfrm>
            <a:off x="274320" y="960120"/>
            <a:ext cx="2560320" cy="457200"/>
          </a:xfrm>
          <a:prstGeom prst="rect">
            <a:avLst/>
          </a:prstGeom>
          <a:noFill/>
          <a:ln/>
        </p:spPr>
        <p:txBody>
          <a:bodyPr wrap="square" lIns="25400" tIns="25400" rIns="25400" bIns="25400" rtlCol="0" anchor="ctr"/>
          <a:lstStyle/>
          <a:p>
            <a:pPr algn="ctr" indent="0" marL="0">
              <a:buNone/>
            </a:pPr>
            <a:r>
              <a:rPr lang="en-US" sz="1150" b="1" dirty="0">
                <a:solidFill>
                  <a:srgbClr val="FFFFFF"/>
                </a:solidFill>
              </a:rPr>
              <a:t>🔒 Vùng Bảo Tồn</a:t>
            </a:r>
            <a:endParaRPr lang="en-US" sz="1150" dirty="0"/>
          </a:p>
          <a:p>
            <a:pPr algn="ctr" indent="0" marL="0">
              <a:buNone/>
            </a:pPr>
            <a:r>
              <a:rPr lang="en-US" sz="1150" b="1" dirty="0">
                <a:solidFill>
                  <a:srgbClr val="FFFFFF"/>
                </a:solidFill>
              </a:rPr>
              <a:t>(Preserve Geometry)</a:t>
            </a:r>
            <a:endParaRPr lang="en-US" sz="1150" dirty="0"/>
          </a:p>
        </p:txBody>
      </p:sp>
      <p:sp>
        <p:nvSpPr>
          <p:cNvPr id="9" name="Text 7"/>
          <p:cNvSpPr/>
          <p:nvPr/>
        </p:nvSpPr>
        <p:spPr>
          <a:xfrm>
            <a:off x="320040" y="1481328"/>
            <a:ext cx="2468880" cy="2926080"/>
          </a:xfrm>
          <a:prstGeom prst="rect">
            <a:avLst/>
          </a:prstGeom>
          <a:noFill/>
          <a:ln/>
        </p:spPr>
        <p:txBody>
          <a:bodyPr wrap="square" lIns="50800" tIns="50800" rIns="50800" bIns="50800" rtlCol="0" anchor="ctr"/>
          <a:lstStyle/>
          <a:p>
            <a:pPr marL="342900" indent="-342900">
              <a:buSzPct val="100000"/>
              <a:buChar char="•"/>
            </a:pPr>
            <a:r>
              <a:rPr lang="en-US" sz="1050" dirty="0">
                <a:solidFill>
                  <a:srgbClr val="1E293B"/>
                </a:solidFill>
              </a:rPr>
              <a:t>Lỗ bu-lông gắn tường (4 lỗ Ø8mm) — điểm kết nối với tường/khung</a:t>
            </a:r>
            <a:endParaRPr lang="en-US" sz="1050" dirty="0"/>
          </a:p>
          <a:p>
            <a:pPr marL="342900" indent="-342900">
              <a:buSzPct val="100000"/>
              <a:buChar char="•"/>
            </a:pPr>
            <a:r>
              <a:rPr lang="en-US" sz="1050" dirty="0">
                <a:solidFill>
                  <a:srgbClr val="1E293B"/>
                </a:solidFill>
              </a:rPr>
              <a:t>Mặt phẳng chịu tải (80×60mm) — nơi đặt kệ hoặc thiết bị</a:t>
            </a:r>
            <a:endParaRPr lang="en-US" sz="1050" dirty="0"/>
          </a:p>
          <a:p>
            <a:pPr marL="342900" indent="-342900">
              <a:buSzPct val="100000"/>
              <a:buChar char="•"/>
            </a:pPr>
            <a:r>
              <a:rPr lang="en-US" sz="1050" dirty="0">
                <a:solidFill>
                  <a:srgbClr val="1E293B"/>
                </a:solidFill>
              </a:rPr>
              <a:t>Phần thân gắn kết giữa hai điểm trên — duy trì tính toàn vẹn kết cấu</a:t>
            </a:r>
            <a:endParaRPr lang="en-US" sz="1050" dirty="0"/>
          </a:p>
          <a:p>
            <a:pPr marL="342900" indent="-342900">
              <a:buSzPct val="100000"/>
              <a:buChar char="•"/>
            </a:pPr>
            <a:r>
              <a:rPr lang="en-US" sz="1050" dirty="0">
                <a:solidFill>
                  <a:srgbClr val="1E293B"/>
                </a:solidFill>
              </a:rPr>
              <a:t>Vùng lắp ghép ren (M6) tại đầu giá đỡ</a:t>
            </a:r>
            <a:endParaRPr lang="en-US" sz="1050" dirty="0"/>
          </a:p>
        </p:txBody>
      </p:sp>
      <p:sp>
        <p:nvSpPr>
          <p:cNvPr id="10" name="Shape 8"/>
          <p:cNvSpPr/>
          <p:nvPr/>
        </p:nvSpPr>
        <p:spPr>
          <a:xfrm>
            <a:off x="3246120" y="960120"/>
            <a:ext cx="2651760" cy="3566160"/>
          </a:xfrm>
          <a:prstGeom prst="rect">
            <a:avLst/>
          </a:prstGeom>
          <a:solidFill>
            <a:srgbClr val="FFFFFF"/>
          </a:solidFill>
          <a:ln w="10160">
            <a:solidFill>
              <a:srgbClr val="E2E8F0"/>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3246120" y="960120"/>
            <a:ext cx="2651760" cy="457200"/>
          </a:xfrm>
          <a:prstGeom prst="rect">
            <a:avLst/>
          </a:prstGeom>
          <a:solidFill>
            <a:srgbClr val="E8750A"/>
          </a:solidFill>
          <a:ln w="12700">
            <a:solidFill>
              <a:srgbClr val="E8750A"/>
            </a:solidFill>
            <a:prstDash val="solid"/>
          </a:ln>
        </p:spPr>
      </p:sp>
      <p:sp>
        <p:nvSpPr>
          <p:cNvPr id="12" name="Text 10"/>
          <p:cNvSpPr/>
          <p:nvPr/>
        </p:nvSpPr>
        <p:spPr>
          <a:xfrm>
            <a:off x="3291840" y="960120"/>
            <a:ext cx="2560320" cy="457200"/>
          </a:xfrm>
          <a:prstGeom prst="rect">
            <a:avLst/>
          </a:prstGeom>
          <a:noFill/>
          <a:ln/>
        </p:spPr>
        <p:txBody>
          <a:bodyPr wrap="square" lIns="25400" tIns="25400" rIns="25400" bIns="25400" rtlCol="0" anchor="ctr"/>
          <a:lstStyle/>
          <a:p>
            <a:pPr algn="ctr" indent="0" marL="0">
              <a:buNone/>
            </a:pPr>
            <a:r>
              <a:rPr lang="en-US" sz="1150" b="1" dirty="0">
                <a:solidFill>
                  <a:srgbClr val="FFFFFF"/>
                </a:solidFill>
              </a:rPr>
              <a:t>🚫 Vùng Cản Trở</a:t>
            </a:r>
            <a:endParaRPr lang="en-US" sz="1150" dirty="0"/>
          </a:p>
          <a:p>
            <a:pPr algn="ctr" indent="0" marL="0">
              <a:buNone/>
            </a:pPr>
            <a:r>
              <a:rPr lang="en-US" sz="1150" b="1" dirty="0">
                <a:solidFill>
                  <a:srgbClr val="FFFFFF"/>
                </a:solidFill>
              </a:rPr>
              <a:t>(Obstacle Geometry)</a:t>
            </a:r>
            <a:endParaRPr lang="en-US" sz="1150" dirty="0"/>
          </a:p>
        </p:txBody>
      </p:sp>
      <p:sp>
        <p:nvSpPr>
          <p:cNvPr id="13" name="Text 11"/>
          <p:cNvSpPr/>
          <p:nvPr/>
        </p:nvSpPr>
        <p:spPr>
          <a:xfrm>
            <a:off x="3291840" y="1481328"/>
            <a:ext cx="2468880" cy="2926080"/>
          </a:xfrm>
          <a:prstGeom prst="rect">
            <a:avLst/>
          </a:prstGeom>
          <a:noFill/>
          <a:ln/>
        </p:spPr>
        <p:txBody>
          <a:bodyPr wrap="square" lIns="50800" tIns="50800" rIns="50800" bIns="50800" rtlCol="0" anchor="ctr"/>
          <a:lstStyle/>
          <a:p>
            <a:pPr marL="342900" indent="-342900">
              <a:buSzPct val="100000"/>
              <a:buChar char="•"/>
            </a:pPr>
            <a:r>
              <a:rPr lang="en-US" sz="1050" dirty="0">
                <a:solidFill>
                  <a:srgbClr val="1E293B"/>
                </a:solidFill>
              </a:rPr>
              <a:t>Khoảng hở lắp đặt ống dây điện (Ø20mm) — không được vật liệu che lấp</a:t>
            </a:r>
            <a:endParaRPr lang="en-US" sz="1050" dirty="0"/>
          </a:p>
          <a:p>
            <a:pPr marL="342900" indent="-342900">
              <a:buSzPct val="100000"/>
              <a:buChar char="•"/>
            </a:pPr>
            <a:r>
              <a:rPr lang="en-US" sz="1050" dirty="0">
                <a:solidFill>
                  <a:srgbClr val="1E293B"/>
                </a:solidFill>
              </a:rPr>
              <a:t>Vùng trước mặt gắn tường (5mm) — không gian bắt vít thi công</a:t>
            </a:r>
            <a:endParaRPr lang="en-US" sz="1050" dirty="0"/>
          </a:p>
          <a:p>
            <a:pPr marL="342900" indent="-342900">
              <a:buSzPct val="100000"/>
              <a:buChar char="•"/>
            </a:pPr>
            <a:r>
              <a:rPr lang="en-US" sz="1050" dirty="0">
                <a:solidFill>
                  <a:srgbClr val="1E293B"/>
                </a:solidFill>
              </a:rPr>
              <a:t>Hành lang thông gió phía dưới giá đỡ — tránh tích nhiệt</a:t>
            </a:r>
            <a:endParaRPr lang="en-US" sz="1050" dirty="0"/>
          </a:p>
          <a:p>
            <a:pPr marL="342900" indent="-342900">
              <a:buSzPct val="100000"/>
              <a:buChar char="•"/>
            </a:pPr>
            <a:r>
              <a:rPr lang="en-US" sz="1050" dirty="0">
                <a:solidFill>
                  <a:srgbClr val="1E293B"/>
                </a:solidFill>
              </a:rPr>
              <a:t>Vùng bảo vệ trục điều chỉnh góc (nếu có cơ cấu quay)</a:t>
            </a:r>
            <a:endParaRPr lang="en-US" sz="1050" dirty="0"/>
          </a:p>
        </p:txBody>
      </p:sp>
      <p:sp>
        <p:nvSpPr>
          <p:cNvPr id="14" name="Shape 12"/>
          <p:cNvSpPr/>
          <p:nvPr/>
        </p:nvSpPr>
        <p:spPr>
          <a:xfrm>
            <a:off x="6263640" y="960120"/>
            <a:ext cx="2651760" cy="3566160"/>
          </a:xfrm>
          <a:prstGeom prst="rect">
            <a:avLst/>
          </a:prstGeom>
          <a:solidFill>
            <a:srgbClr val="FFFFFF"/>
          </a:solidFill>
          <a:ln w="10160">
            <a:solidFill>
              <a:srgbClr val="E2E8F0"/>
            </a:solidFill>
            <a:prstDash val="solid"/>
          </a:ln>
          <a:effectLst>
            <a:outerShdw sx="100000" sy="100000" kx="0" ky="0" algn="bl" rotWithShape="0" blurRad="101600" dist="25400" dir="8100000">
              <a:srgbClr val="000000">
                <a:alpha val="10000"/>
              </a:srgbClr>
            </a:outerShdw>
          </a:effectLst>
        </p:spPr>
      </p:sp>
      <p:sp>
        <p:nvSpPr>
          <p:cNvPr id="15" name="Shape 13"/>
          <p:cNvSpPr/>
          <p:nvPr/>
        </p:nvSpPr>
        <p:spPr>
          <a:xfrm>
            <a:off x="6263640" y="960120"/>
            <a:ext cx="2651760" cy="457200"/>
          </a:xfrm>
          <a:prstGeom prst="rect">
            <a:avLst/>
          </a:prstGeom>
          <a:solidFill>
            <a:srgbClr val="0D9488"/>
          </a:solidFill>
          <a:ln w="12700">
            <a:solidFill>
              <a:srgbClr val="0D9488"/>
            </a:solidFill>
            <a:prstDash val="solid"/>
          </a:ln>
        </p:spPr>
      </p:sp>
      <p:sp>
        <p:nvSpPr>
          <p:cNvPr id="16" name="Text 14"/>
          <p:cNvSpPr/>
          <p:nvPr/>
        </p:nvSpPr>
        <p:spPr>
          <a:xfrm>
            <a:off x="6309360" y="960120"/>
            <a:ext cx="2560320" cy="457200"/>
          </a:xfrm>
          <a:prstGeom prst="rect">
            <a:avLst/>
          </a:prstGeom>
          <a:noFill/>
          <a:ln/>
        </p:spPr>
        <p:txBody>
          <a:bodyPr wrap="square" lIns="25400" tIns="25400" rIns="25400" bIns="25400" rtlCol="0" anchor="ctr"/>
          <a:lstStyle/>
          <a:p>
            <a:pPr algn="ctr" indent="0" marL="0">
              <a:buNone/>
            </a:pPr>
            <a:r>
              <a:rPr lang="en-US" sz="1150" b="1" dirty="0">
                <a:solidFill>
                  <a:srgbClr val="FFFFFF"/>
                </a:solidFill>
              </a:rPr>
              <a:t>⚡ Lực Tác Động</a:t>
            </a:r>
            <a:endParaRPr lang="en-US" sz="1150" dirty="0"/>
          </a:p>
          <a:p>
            <a:pPr algn="ctr" indent="0" marL="0">
              <a:buNone/>
            </a:pPr>
            <a:r>
              <a:rPr lang="en-US" sz="1150" b="1" dirty="0">
                <a:solidFill>
                  <a:srgbClr val="FFFFFF"/>
                </a:solidFill>
              </a:rPr>
              <a:t>(Loads &amp; Constraints)</a:t>
            </a:r>
            <a:endParaRPr lang="en-US" sz="1150" dirty="0"/>
          </a:p>
        </p:txBody>
      </p:sp>
      <p:sp>
        <p:nvSpPr>
          <p:cNvPr id="17" name="Text 15"/>
          <p:cNvSpPr/>
          <p:nvPr/>
        </p:nvSpPr>
        <p:spPr>
          <a:xfrm>
            <a:off x="6309360" y="1481328"/>
            <a:ext cx="2468880" cy="2926080"/>
          </a:xfrm>
          <a:prstGeom prst="rect">
            <a:avLst/>
          </a:prstGeom>
          <a:noFill/>
          <a:ln/>
        </p:spPr>
        <p:txBody>
          <a:bodyPr wrap="square" lIns="50800" tIns="50800" rIns="50800" bIns="50800" rtlCol="0" anchor="ctr"/>
          <a:lstStyle/>
          <a:p>
            <a:pPr marL="342900" indent="-342900">
              <a:buSzPct val="100000"/>
              <a:buChar char="•"/>
            </a:pPr>
            <a:r>
              <a:rPr lang="en-US" sz="1050" dirty="0">
                <a:solidFill>
                  <a:srgbClr val="1E293B"/>
                </a:solidFill>
              </a:rPr>
              <a:t>Lực đứng: F = 500 N hướng xuống tại mặt chịu tải (tải tĩnh)</a:t>
            </a:r>
            <a:endParaRPr lang="en-US" sz="1050" dirty="0"/>
          </a:p>
          <a:p>
            <a:pPr marL="342900" indent="-342900">
              <a:buSzPct val="100000"/>
              <a:buChar char="•"/>
            </a:pPr>
            <a:r>
              <a:rPr lang="en-US" sz="1050" dirty="0">
                <a:solidFill>
                  <a:srgbClr val="1E293B"/>
                </a:solidFill>
              </a:rPr>
              <a:t>Mô-men uốn: M = 30 N·m (cánh tay đòn 60mm)</a:t>
            </a:r>
            <a:endParaRPr lang="en-US" sz="1050" dirty="0"/>
          </a:p>
          <a:p>
            <a:pPr marL="342900" indent="-342900">
              <a:buSzPct val="100000"/>
              <a:buChar char="•"/>
            </a:pPr>
            <a:r>
              <a:rPr lang="en-US" sz="1050" dirty="0">
                <a:solidFill>
                  <a:srgbClr val="1E293B"/>
                </a:solidFill>
              </a:rPr>
              <a:t>Điều kiện biên: 4 lỗ bu-lông cố định hoàn toàn (Fixed Support)</a:t>
            </a:r>
            <a:endParaRPr lang="en-US" sz="1050" dirty="0"/>
          </a:p>
          <a:p>
            <a:pPr marL="342900" indent="-342900">
              <a:buSzPct val="100000"/>
              <a:buChar char="•"/>
            </a:pPr>
            <a:r>
              <a:rPr lang="en-US" sz="1050" dirty="0">
                <a:solidFill>
                  <a:srgbClr val="1E293B"/>
                </a:solidFill>
              </a:rPr>
              <a:t>Hệ số an toàn yêu cầu: SF ≥ 2.5 theo tiêu chuẩn AISC</a:t>
            </a:r>
            <a:endParaRPr lang="en-US" sz="1050" dirty="0"/>
          </a:p>
        </p:txBody>
      </p:sp>
      <p:sp>
        <p:nvSpPr>
          <p:cNvPr id="18" name="Shape 16"/>
          <p:cNvSpPr/>
          <p:nvPr/>
        </p:nvSpPr>
        <p:spPr>
          <a:xfrm>
            <a:off x="0" y="4846320"/>
            <a:ext cx="9144000" cy="297180"/>
          </a:xfrm>
          <a:prstGeom prst="rect">
            <a:avLst/>
          </a:prstGeom>
          <a:solidFill>
            <a:srgbClr val="1A2B4C"/>
          </a:solidFill>
          <a:ln w="12700">
            <a:solidFill>
              <a:srgbClr val="1A2B4C"/>
            </a:solidFill>
            <a:prstDash val="solid"/>
          </a:ln>
        </p:spPr>
      </p:sp>
      <p:sp>
        <p:nvSpPr>
          <p:cNvPr id="19" name="Text 17"/>
          <p:cNvSpPr/>
          <p:nvPr/>
        </p:nvSpPr>
        <p:spPr>
          <a:xfrm>
            <a:off x="182880" y="4846320"/>
            <a:ext cx="8778240" cy="297180"/>
          </a:xfrm>
          <a:prstGeom prst="rect">
            <a:avLst/>
          </a:prstGeom>
          <a:noFill/>
          <a:ln/>
        </p:spPr>
        <p:txBody>
          <a:bodyPr wrap="square" lIns="0" tIns="0" rIns="0" bIns="0" rtlCol="0" anchor="ctr"/>
          <a:lstStyle/>
          <a:p>
            <a:pPr indent="0" marL="0">
              <a:buNone/>
            </a:pPr>
            <a:r>
              <a:rPr lang="en-US" sz="1000" dirty="0">
                <a:solidFill>
                  <a:srgbClr val="E2E8F0"/>
                </a:solidFill>
              </a:rPr>
              <a:t>Thiết kế Sinh mẫu (Generative Design) — Giá đỡ kết cấu</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B4C"/>
          </a:solidFill>
          <a:ln w="12700">
            <a:solidFill>
              <a:srgbClr val="1A2B4C"/>
            </a:solidFill>
            <a:prstDash val="solid"/>
          </a:ln>
        </p:spPr>
      </p:sp>
      <p:sp>
        <p:nvSpPr>
          <p:cNvPr id="3" name="Text 1"/>
          <p:cNvSpPr/>
          <p:nvPr/>
        </p:nvSpPr>
        <p:spPr>
          <a:xfrm>
            <a:off x="320040" y="0"/>
            <a:ext cx="8229600" cy="777240"/>
          </a:xfrm>
          <a:prstGeom prst="rect">
            <a:avLst/>
          </a:prstGeom>
          <a:noFill/>
          <a:ln/>
        </p:spPr>
        <p:txBody>
          <a:bodyPr wrap="square" lIns="0" tIns="0" rIns="0" bIns="0" rtlCol="0" anchor="ctr"/>
          <a:lstStyle/>
          <a:p>
            <a:pPr indent="0" marL="0">
              <a:buNone/>
            </a:pPr>
            <a:r>
              <a:rPr lang="en-US" sz="2200" b="1" dirty="0">
                <a:solidFill>
                  <a:srgbClr val="FFFFFF"/>
                </a:solidFill>
              </a:rPr>
              <a:t>KẾT QUẢ AI TẠO RA &amp; GIẢI THÍCH</a:t>
            </a:r>
            <a:endParaRPr lang="en-US" sz="2200" dirty="0"/>
          </a:p>
        </p:txBody>
      </p:sp>
      <p:sp>
        <p:nvSpPr>
          <p:cNvPr id="4" name="Text 2"/>
          <p:cNvSpPr/>
          <p:nvPr/>
        </p:nvSpPr>
        <p:spPr>
          <a:xfrm>
            <a:off x="7772400" y="0"/>
            <a:ext cx="1188720" cy="777240"/>
          </a:xfrm>
          <a:prstGeom prst="rect">
            <a:avLst/>
          </a:prstGeom>
          <a:noFill/>
          <a:ln/>
        </p:spPr>
        <p:txBody>
          <a:bodyPr wrap="square" lIns="0" tIns="0" rIns="0" bIns="0" rtlCol="0" anchor="ctr"/>
          <a:lstStyle/>
          <a:p>
            <a:pPr algn="r" indent="0" marL="0">
              <a:buNone/>
            </a:pPr>
            <a:r>
              <a:rPr lang="en-US" sz="1000" dirty="0">
                <a:solidFill>
                  <a:srgbClr val="F5A623"/>
                </a:solidFill>
              </a:rPr>
              <a:t>Slide 4 / 5</a:t>
            </a:r>
            <a:endParaRPr lang="en-US" sz="1000" dirty="0"/>
          </a:p>
        </p:txBody>
      </p:sp>
      <p:sp>
        <p:nvSpPr>
          <p:cNvPr id="5" name="Shape 3"/>
          <p:cNvSpPr/>
          <p:nvPr/>
        </p:nvSpPr>
        <p:spPr>
          <a:xfrm>
            <a:off x="0" y="777240"/>
            <a:ext cx="73152" cy="4366260"/>
          </a:xfrm>
          <a:prstGeom prst="rect">
            <a:avLst/>
          </a:prstGeom>
          <a:solidFill>
            <a:srgbClr val="E8750A"/>
          </a:solidFill>
          <a:ln w="12700">
            <a:solidFill>
              <a:srgbClr val="E8750A"/>
            </a:solidFill>
            <a:prstDash val="solid"/>
          </a:ln>
        </p:spPr>
      </p:sp>
      <p:sp>
        <p:nvSpPr>
          <p:cNvPr id="6" name="Shape 4"/>
          <p:cNvSpPr/>
          <p:nvPr/>
        </p:nvSpPr>
        <p:spPr>
          <a:xfrm>
            <a:off x="228600" y="914400"/>
            <a:ext cx="4114800" cy="411480"/>
          </a:xfrm>
          <a:prstGeom prst="rect">
            <a:avLst/>
          </a:prstGeom>
          <a:solidFill>
            <a:srgbClr val="1A2B4C"/>
          </a:solidFill>
          <a:ln w="12700">
            <a:solidFill>
              <a:srgbClr val="1A2B4C"/>
            </a:solidFill>
            <a:prstDash val="solid"/>
          </a:ln>
        </p:spPr>
      </p:sp>
      <p:sp>
        <p:nvSpPr>
          <p:cNvPr id="7" name="Text 5"/>
          <p:cNvSpPr/>
          <p:nvPr/>
        </p:nvSpPr>
        <p:spPr>
          <a:xfrm>
            <a:off x="274320" y="914400"/>
            <a:ext cx="4023360" cy="411480"/>
          </a:xfrm>
          <a:prstGeom prst="rect">
            <a:avLst/>
          </a:prstGeom>
          <a:noFill/>
          <a:ln/>
        </p:spPr>
        <p:txBody>
          <a:bodyPr wrap="square" lIns="63500" tIns="63500" rIns="63500" bIns="63500" rtlCol="0" anchor="ctr"/>
          <a:lstStyle/>
          <a:p>
            <a:pPr indent="0" marL="0">
              <a:buNone/>
            </a:pPr>
            <a:r>
              <a:rPr lang="en-US" sz="1300" b="1" dirty="0">
                <a:solidFill>
                  <a:srgbClr val="FFFFFF"/>
                </a:solidFill>
              </a:rPr>
              <a:t>🤖  Hình dạng sản phẩm do AI đề xuất</a:t>
            </a:r>
            <a:endParaRPr lang="en-US" sz="1300" dirty="0"/>
          </a:p>
        </p:txBody>
      </p:sp>
      <p:sp>
        <p:nvSpPr>
          <p:cNvPr id="8" name="Shape 6"/>
          <p:cNvSpPr/>
          <p:nvPr/>
        </p:nvSpPr>
        <p:spPr>
          <a:xfrm>
            <a:off x="228600" y="1371600"/>
            <a:ext cx="4114800" cy="2377440"/>
          </a:xfrm>
          <a:prstGeom prst="rect">
            <a:avLst/>
          </a:prstGeom>
          <a:solidFill>
            <a:srgbClr val="EBF3FB"/>
          </a:solidFill>
          <a:ln w="10160">
            <a:solidFill>
              <a:srgbClr val="E2E8F0"/>
            </a:solidFill>
            <a:prstDash val="solid"/>
          </a:ln>
        </p:spPr>
      </p:sp>
      <p:sp>
        <p:nvSpPr>
          <p:cNvPr id="9" name="Shape 7"/>
          <p:cNvSpPr/>
          <p:nvPr/>
        </p:nvSpPr>
        <p:spPr>
          <a:xfrm>
            <a:off x="502920" y="1554480"/>
            <a:ext cx="640080" cy="1828800"/>
          </a:xfrm>
          <a:prstGeom prst="rect">
            <a:avLst/>
          </a:prstGeom>
          <a:solidFill>
            <a:srgbClr val="1A2B4C"/>
          </a:solidFill>
          <a:ln w="12700">
            <a:solidFill>
              <a:srgbClr val="1A2B4C"/>
            </a:solidFill>
            <a:prstDash val="solid"/>
          </a:ln>
        </p:spPr>
      </p:sp>
      <p:sp>
        <p:nvSpPr>
          <p:cNvPr id="10" name="Shape 8"/>
          <p:cNvSpPr/>
          <p:nvPr/>
        </p:nvSpPr>
        <p:spPr>
          <a:xfrm>
            <a:off x="822960" y="1691640"/>
            <a:ext cx="2560320" cy="1280160"/>
          </a:xfrm>
          <a:prstGeom prst="ellipse">
            <a:avLst/>
          </a:prstGeom>
          <a:solidFill>
            <a:srgbClr val="253660">
              <a:alpha val="80000"/>
            </a:srgbClr>
          </a:solidFill>
          <a:ln w="12700">
            <a:solidFill>
              <a:srgbClr val="1A2B4C"/>
            </a:solidFill>
            <a:prstDash val="solid"/>
          </a:ln>
        </p:spPr>
      </p:sp>
      <p:sp>
        <p:nvSpPr>
          <p:cNvPr id="11" name="Shape 9"/>
          <p:cNvSpPr/>
          <p:nvPr/>
        </p:nvSpPr>
        <p:spPr>
          <a:xfrm>
            <a:off x="3200400" y="2103120"/>
            <a:ext cx="822960" cy="502920"/>
          </a:xfrm>
          <a:prstGeom prst="rect">
            <a:avLst/>
          </a:prstGeom>
          <a:solidFill>
            <a:srgbClr val="E8750A"/>
          </a:solidFill>
          <a:ln w="12700">
            <a:solidFill>
              <a:srgbClr val="E8750A"/>
            </a:solidFill>
            <a:prstDash val="solid"/>
          </a:ln>
        </p:spPr>
      </p:sp>
      <p:sp>
        <p:nvSpPr>
          <p:cNvPr id="12" name="Shape 10"/>
          <p:cNvSpPr/>
          <p:nvPr/>
        </p:nvSpPr>
        <p:spPr>
          <a:xfrm>
            <a:off x="1371600" y="1828800"/>
            <a:ext cx="2011680" cy="274320"/>
          </a:xfrm>
          <a:prstGeom prst="rect">
            <a:avLst/>
          </a:prstGeom>
          <a:solidFill>
            <a:srgbClr val="0D9488">
              <a:alpha val="70000"/>
            </a:srgbClr>
          </a:solidFill>
          <a:ln w="12700">
            <a:solidFill>
              <a:srgbClr val="0D9488"/>
            </a:solidFill>
            <a:prstDash val="solid"/>
          </a:ln>
        </p:spPr>
      </p:sp>
      <p:sp>
        <p:nvSpPr>
          <p:cNvPr id="13" name="Text 11"/>
          <p:cNvSpPr/>
          <p:nvPr/>
        </p:nvSpPr>
        <p:spPr>
          <a:xfrm>
            <a:off x="274320" y="3429000"/>
            <a:ext cx="1097280" cy="228600"/>
          </a:xfrm>
          <a:prstGeom prst="rect">
            <a:avLst/>
          </a:prstGeom>
          <a:noFill/>
          <a:ln/>
        </p:spPr>
        <p:txBody>
          <a:bodyPr wrap="square" lIns="0" tIns="0" rIns="0" bIns="0" rtlCol="0" anchor="ctr"/>
          <a:lstStyle/>
          <a:p>
            <a:pPr algn="ctr" indent="0" marL="0">
              <a:buNone/>
            </a:pPr>
            <a:r>
              <a:rPr lang="en-US" sz="800" dirty="0">
                <a:solidFill>
                  <a:srgbClr val="1A2B4C"/>
                </a:solidFill>
              </a:rPr>
              <a:t>Tấm gắn tường</a:t>
            </a:r>
            <a:endParaRPr lang="en-US" sz="800" dirty="0"/>
          </a:p>
        </p:txBody>
      </p:sp>
      <p:sp>
        <p:nvSpPr>
          <p:cNvPr id="14" name="Text 12"/>
          <p:cNvSpPr/>
          <p:nvPr/>
        </p:nvSpPr>
        <p:spPr>
          <a:xfrm>
            <a:off x="1463040" y="3429000"/>
            <a:ext cx="1371600" cy="320040"/>
          </a:xfrm>
          <a:prstGeom prst="rect">
            <a:avLst/>
          </a:prstGeom>
          <a:noFill/>
          <a:ln/>
        </p:spPr>
        <p:txBody>
          <a:bodyPr wrap="square" lIns="0" tIns="0" rIns="0" bIns="0" rtlCol="0" anchor="ctr"/>
          <a:lstStyle/>
          <a:p>
            <a:pPr algn="ctr" indent="0" marL="0">
              <a:buNone/>
            </a:pPr>
            <a:r>
              <a:rPr lang="en-US" sz="800" dirty="0">
                <a:solidFill>
                  <a:srgbClr val="253660"/>
                </a:solidFill>
              </a:rPr>
              <a:t>Thân hữu cơ</a:t>
            </a:r>
            <a:endParaRPr lang="en-US" sz="800" dirty="0"/>
          </a:p>
          <a:p>
            <a:pPr algn="ctr" indent="0" marL="0">
              <a:buNone/>
            </a:pPr>
            <a:r>
              <a:rPr lang="en-US" sz="800" dirty="0">
                <a:solidFill>
                  <a:srgbClr val="253660"/>
                </a:solidFill>
              </a:rPr>
              <a:t>(Organic Body)</a:t>
            </a:r>
            <a:endParaRPr lang="en-US" sz="800" dirty="0"/>
          </a:p>
        </p:txBody>
      </p:sp>
      <p:sp>
        <p:nvSpPr>
          <p:cNvPr id="15" name="Text 13"/>
          <p:cNvSpPr/>
          <p:nvPr/>
        </p:nvSpPr>
        <p:spPr>
          <a:xfrm>
            <a:off x="3017520" y="3429000"/>
            <a:ext cx="1097280" cy="228600"/>
          </a:xfrm>
          <a:prstGeom prst="rect">
            <a:avLst/>
          </a:prstGeom>
          <a:noFill/>
          <a:ln/>
        </p:spPr>
        <p:txBody>
          <a:bodyPr wrap="square" lIns="0" tIns="0" rIns="0" bIns="0" rtlCol="0" anchor="ctr"/>
          <a:lstStyle/>
          <a:p>
            <a:pPr algn="ctr" indent="0" marL="0">
              <a:buNone/>
            </a:pPr>
            <a:r>
              <a:rPr lang="en-US" sz="800" b="1" dirty="0">
                <a:solidFill>
                  <a:srgbClr val="E8750A"/>
                </a:solidFill>
              </a:rPr>
              <a:t>Mặt chịu tải</a:t>
            </a:r>
            <a:endParaRPr lang="en-US" sz="800" dirty="0"/>
          </a:p>
        </p:txBody>
      </p:sp>
      <p:sp>
        <p:nvSpPr>
          <p:cNvPr id="16" name="Text 14"/>
          <p:cNvSpPr/>
          <p:nvPr/>
        </p:nvSpPr>
        <p:spPr>
          <a:xfrm>
            <a:off x="274320" y="3703320"/>
            <a:ext cx="3931920" cy="228600"/>
          </a:xfrm>
          <a:prstGeom prst="rect">
            <a:avLst/>
          </a:prstGeom>
          <a:noFill/>
          <a:ln/>
        </p:spPr>
        <p:txBody>
          <a:bodyPr wrap="square" lIns="0" tIns="0" rIns="0" bIns="0" rtlCol="0" anchor="ctr"/>
          <a:lstStyle/>
          <a:p>
            <a:pPr algn="ctr" indent="0" marL="0">
              <a:buNone/>
            </a:pPr>
            <a:r>
              <a:rPr lang="en-US" sz="850" i="1" dirty="0">
                <a:solidFill>
                  <a:srgbClr val="64748B"/>
                </a:solidFill>
              </a:rPr>
              <a:t>[ Phác thảo sơ đồ hữu cơ — minh họa khái niệm ]</a:t>
            </a:r>
            <a:endParaRPr lang="en-US" sz="850" dirty="0"/>
          </a:p>
        </p:txBody>
      </p:sp>
      <p:sp>
        <p:nvSpPr>
          <p:cNvPr id="17" name="Shape 15"/>
          <p:cNvSpPr/>
          <p:nvPr/>
        </p:nvSpPr>
        <p:spPr>
          <a:xfrm>
            <a:off x="4617720" y="914400"/>
            <a:ext cx="4251960" cy="411480"/>
          </a:xfrm>
          <a:prstGeom prst="rect">
            <a:avLst/>
          </a:prstGeom>
          <a:solidFill>
            <a:srgbClr val="E8750A"/>
          </a:solidFill>
          <a:ln w="12700">
            <a:solidFill>
              <a:srgbClr val="E8750A"/>
            </a:solidFill>
            <a:prstDash val="solid"/>
          </a:ln>
        </p:spPr>
      </p:sp>
      <p:sp>
        <p:nvSpPr>
          <p:cNvPr id="18" name="Text 16"/>
          <p:cNvSpPr/>
          <p:nvPr/>
        </p:nvSpPr>
        <p:spPr>
          <a:xfrm>
            <a:off x="4663440" y="914400"/>
            <a:ext cx="4160520" cy="411480"/>
          </a:xfrm>
          <a:prstGeom prst="rect">
            <a:avLst/>
          </a:prstGeom>
          <a:noFill/>
          <a:ln/>
        </p:spPr>
        <p:txBody>
          <a:bodyPr wrap="square" lIns="63500" tIns="63500" rIns="63500" bIns="63500" rtlCol="0" anchor="ctr"/>
          <a:lstStyle/>
          <a:p>
            <a:pPr indent="0" marL="0">
              <a:buNone/>
            </a:pPr>
            <a:r>
              <a:rPr lang="en-US" sz="1300" b="1" dirty="0">
                <a:solidFill>
                  <a:srgbClr val="FFFFFF"/>
                </a:solidFill>
              </a:rPr>
              <a:t>💡  Giải thích chuyên sâu</a:t>
            </a:r>
            <a:endParaRPr lang="en-US" sz="1300" dirty="0"/>
          </a:p>
        </p:txBody>
      </p:sp>
      <p:sp>
        <p:nvSpPr>
          <p:cNvPr id="19" name="Text 17"/>
          <p:cNvSpPr/>
          <p:nvPr/>
        </p:nvSpPr>
        <p:spPr>
          <a:xfrm>
            <a:off x="4663440" y="1417320"/>
            <a:ext cx="4160520" cy="749808"/>
          </a:xfrm>
          <a:prstGeom prst="rect">
            <a:avLst/>
          </a:prstGeom>
          <a:noFill/>
          <a:ln/>
        </p:spPr>
        <p:txBody>
          <a:bodyPr wrap="square" lIns="50800" tIns="50800" rIns="50800" bIns="50800" rtlCol="0" anchor="ctr"/>
          <a:lstStyle/>
          <a:p>
            <a:pPr indent="0" marL="0">
              <a:buNone/>
            </a:pPr>
            <a:r>
              <a:rPr lang="en-US" sz="1050" b="1" dirty="0">
                <a:solidFill>
                  <a:srgbClr val="1A2B4C"/>
                </a:solidFill>
              </a:rPr>
              <a:t>Hình dạng hữu cơ: </a:t>
            </a:r>
            <a:pPr indent="0" marL="0">
              <a:buNone/>
            </a:pPr>
            <a:r>
              <a:rPr lang="en-US" sz="1050" dirty="0">
                <a:solidFill>
                  <a:srgbClr val="1E293B"/>
                </a:solidFill>
              </a:rPr>
              <a:t>AI loại bỏ vật liệu dư thừa theo đường truyền lực chính (Load Path). Thay vì khối đặc vuông vức, kết cấu thu gọn thành các nhánh vật liệu mảnh theo hướng ứng suất chính.</a:t>
            </a:r>
            <a:endParaRPr lang="en-US" sz="1050" dirty="0"/>
          </a:p>
        </p:txBody>
      </p:sp>
      <p:sp>
        <p:nvSpPr>
          <p:cNvPr id="20" name="Text 18"/>
          <p:cNvSpPr/>
          <p:nvPr/>
        </p:nvSpPr>
        <p:spPr>
          <a:xfrm>
            <a:off x="4663440" y="2221992"/>
            <a:ext cx="4160520" cy="749808"/>
          </a:xfrm>
          <a:prstGeom prst="rect">
            <a:avLst/>
          </a:prstGeom>
          <a:noFill/>
          <a:ln/>
        </p:spPr>
        <p:txBody>
          <a:bodyPr wrap="square" lIns="50800" tIns="50800" rIns="50800" bIns="50800" rtlCol="0" anchor="ctr"/>
          <a:lstStyle/>
          <a:p>
            <a:pPr indent="0" marL="0">
              <a:buNone/>
            </a:pPr>
            <a:r>
              <a:rPr lang="en-US" sz="1050" b="1" dirty="0">
                <a:solidFill>
                  <a:srgbClr val="1A2B4C"/>
                </a:solidFill>
              </a:rPr>
              <a:t>Mạng lưới nhánh (Branch Network): </a:t>
            </a:r>
            <a:pPr indent="0" marL="0">
              <a:buNone/>
            </a:pPr>
            <a:r>
              <a:rPr lang="en-US" sz="1050" dirty="0">
                <a:solidFill>
                  <a:srgbClr val="1E293B"/>
                </a:solidFill>
              </a:rPr>
              <a:t>Giống xương động vật, vật liệu tập trung tại các vùng chịu ứng suất cao và giảm dần về phần ít chịu lực — tối ưu về tỷ lệ độ cứng/khối lượng.</a:t>
            </a:r>
            <a:endParaRPr lang="en-US" sz="1050" dirty="0"/>
          </a:p>
        </p:txBody>
      </p:sp>
      <p:sp>
        <p:nvSpPr>
          <p:cNvPr id="21" name="Text 19"/>
          <p:cNvSpPr/>
          <p:nvPr/>
        </p:nvSpPr>
        <p:spPr>
          <a:xfrm>
            <a:off x="4663440" y="3026664"/>
            <a:ext cx="4160520" cy="749808"/>
          </a:xfrm>
          <a:prstGeom prst="rect">
            <a:avLst/>
          </a:prstGeom>
          <a:noFill/>
          <a:ln/>
        </p:spPr>
        <p:txBody>
          <a:bodyPr wrap="square" lIns="50800" tIns="50800" rIns="50800" bIns="50800" rtlCol="0" anchor="ctr"/>
          <a:lstStyle/>
          <a:p>
            <a:pPr indent="0" marL="0">
              <a:buNone/>
            </a:pPr>
            <a:r>
              <a:rPr lang="en-US" sz="1050" b="1" dirty="0">
                <a:solidFill>
                  <a:srgbClr val="1A2B4C"/>
                </a:solidFill>
              </a:rPr>
              <a:t>Bo cong tại góc: </a:t>
            </a:r>
            <a:pPr indent="0" marL="0">
              <a:buNone/>
            </a:pPr>
            <a:r>
              <a:rPr lang="en-US" sz="1050" dirty="0">
                <a:solidFill>
                  <a:srgbClr val="1E293B"/>
                </a:solidFill>
              </a:rPr>
              <a:t>Các góc cạnh sắc là điểm tập trung ứng suất. AI tự động bo tròn bán kính R ≥ 3mm tại mọi giao điểm để phân tán ứng suất đều hơn.</a:t>
            </a:r>
            <a:endParaRPr lang="en-US" sz="1050" dirty="0"/>
          </a:p>
        </p:txBody>
      </p:sp>
      <p:sp>
        <p:nvSpPr>
          <p:cNvPr id="22" name="Text 20"/>
          <p:cNvSpPr/>
          <p:nvPr/>
        </p:nvSpPr>
        <p:spPr>
          <a:xfrm>
            <a:off x="4663440" y="3831336"/>
            <a:ext cx="4160520" cy="749808"/>
          </a:xfrm>
          <a:prstGeom prst="rect">
            <a:avLst/>
          </a:prstGeom>
          <a:noFill/>
          <a:ln/>
        </p:spPr>
        <p:txBody>
          <a:bodyPr wrap="square" lIns="50800" tIns="50800" rIns="50800" bIns="50800" rtlCol="0" anchor="ctr"/>
          <a:lstStyle/>
          <a:p>
            <a:pPr indent="0" marL="0">
              <a:buNone/>
            </a:pPr>
            <a:r>
              <a:rPr lang="en-US" sz="1050" b="1" dirty="0">
                <a:solidFill>
                  <a:srgbClr val="1A2B4C"/>
                </a:solidFill>
              </a:rPr>
              <a:t>Liên hệ với ràng buộc: </a:t>
            </a:r>
            <a:pPr indent="0" marL="0">
              <a:buNone/>
            </a:pPr>
            <a:r>
              <a:rPr lang="en-US" sz="1050" dirty="0">
                <a:solidFill>
                  <a:srgbClr val="1E293B"/>
                </a:solidFill>
              </a:rPr>
              <a:t>Vùng bảo tồn (lỗ bu-lông, mặt tải) giữ nguyên; vùng cản trở (ống dây, khe thông gió) được giữ trống; phần còn lại được AI tối ưu hoàn toàn.</a:t>
            </a:r>
            <a:endParaRPr lang="en-US" sz="1050" dirty="0"/>
          </a:p>
        </p:txBody>
      </p:sp>
      <p:sp>
        <p:nvSpPr>
          <p:cNvPr id="23" name="Shape 21"/>
          <p:cNvSpPr/>
          <p:nvPr/>
        </p:nvSpPr>
        <p:spPr>
          <a:xfrm>
            <a:off x="228600" y="4023360"/>
            <a:ext cx="1280160" cy="640080"/>
          </a:xfrm>
          <a:prstGeom prst="rect">
            <a:avLst/>
          </a:prstGeom>
          <a:solidFill>
            <a:srgbClr val="1A2B4C"/>
          </a:solidFill>
          <a:ln w="12700">
            <a:solidFill>
              <a:srgbClr val="E8750A"/>
            </a:solidFill>
            <a:prstDash val="solid"/>
          </a:ln>
        </p:spPr>
      </p:sp>
      <p:sp>
        <p:nvSpPr>
          <p:cNvPr id="24" name="Text 22"/>
          <p:cNvSpPr/>
          <p:nvPr/>
        </p:nvSpPr>
        <p:spPr>
          <a:xfrm>
            <a:off x="228600" y="4041648"/>
            <a:ext cx="1280160" cy="320040"/>
          </a:xfrm>
          <a:prstGeom prst="rect">
            <a:avLst/>
          </a:prstGeom>
          <a:noFill/>
          <a:ln/>
        </p:spPr>
        <p:txBody>
          <a:bodyPr wrap="square" lIns="0" tIns="0" rIns="0" bIns="0" rtlCol="0" anchor="ctr"/>
          <a:lstStyle/>
          <a:p>
            <a:pPr algn="ctr" indent="0" marL="0">
              <a:buNone/>
            </a:pPr>
            <a:r>
              <a:rPr lang="en-US" sz="1800" b="1" dirty="0">
                <a:solidFill>
                  <a:srgbClr val="F5A623"/>
                </a:solidFill>
              </a:rPr>
              <a:t>−42%</a:t>
            </a:r>
            <a:endParaRPr lang="en-US" sz="1800" dirty="0"/>
          </a:p>
        </p:txBody>
      </p:sp>
      <p:sp>
        <p:nvSpPr>
          <p:cNvPr id="25" name="Text 23"/>
          <p:cNvSpPr/>
          <p:nvPr/>
        </p:nvSpPr>
        <p:spPr>
          <a:xfrm>
            <a:off x="228600" y="4361688"/>
            <a:ext cx="1280160" cy="274320"/>
          </a:xfrm>
          <a:prstGeom prst="rect">
            <a:avLst/>
          </a:prstGeom>
          <a:noFill/>
          <a:ln/>
        </p:spPr>
        <p:txBody>
          <a:bodyPr wrap="square" lIns="0" tIns="0" rIns="0" bIns="0" rtlCol="0" anchor="ctr"/>
          <a:lstStyle/>
          <a:p>
            <a:pPr algn="ctr" indent="0" marL="0">
              <a:buNone/>
            </a:pPr>
            <a:r>
              <a:rPr lang="en-US" sz="900" dirty="0">
                <a:solidFill>
                  <a:srgbClr val="FFFFFF"/>
                </a:solidFill>
              </a:rPr>
              <a:t>Giảm khối</a:t>
            </a:r>
            <a:endParaRPr lang="en-US" sz="900" dirty="0"/>
          </a:p>
          <a:p>
            <a:pPr algn="ctr" indent="0" marL="0">
              <a:buNone/>
            </a:pPr>
            <a:r>
              <a:rPr lang="en-US" sz="900" dirty="0">
                <a:solidFill>
                  <a:srgbClr val="FFFFFF"/>
                </a:solidFill>
              </a:rPr>
              <a:t>lượng</a:t>
            </a:r>
            <a:endParaRPr lang="en-US" sz="900" dirty="0"/>
          </a:p>
        </p:txBody>
      </p:sp>
      <p:sp>
        <p:nvSpPr>
          <p:cNvPr id="26" name="Shape 24"/>
          <p:cNvSpPr/>
          <p:nvPr/>
        </p:nvSpPr>
        <p:spPr>
          <a:xfrm>
            <a:off x="1645920" y="4023360"/>
            <a:ext cx="1280160" cy="640080"/>
          </a:xfrm>
          <a:prstGeom prst="rect">
            <a:avLst/>
          </a:prstGeom>
          <a:solidFill>
            <a:srgbClr val="1A2B4C"/>
          </a:solidFill>
          <a:ln w="12700">
            <a:solidFill>
              <a:srgbClr val="E8750A"/>
            </a:solidFill>
            <a:prstDash val="solid"/>
          </a:ln>
        </p:spPr>
      </p:sp>
      <p:sp>
        <p:nvSpPr>
          <p:cNvPr id="27" name="Text 25"/>
          <p:cNvSpPr/>
          <p:nvPr/>
        </p:nvSpPr>
        <p:spPr>
          <a:xfrm>
            <a:off x="1645920" y="4041648"/>
            <a:ext cx="1280160" cy="320040"/>
          </a:xfrm>
          <a:prstGeom prst="rect">
            <a:avLst/>
          </a:prstGeom>
          <a:noFill/>
          <a:ln/>
        </p:spPr>
        <p:txBody>
          <a:bodyPr wrap="square" lIns="0" tIns="0" rIns="0" bIns="0" rtlCol="0" anchor="ctr"/>
          <a:lstStyle/>
          <a:p>
            <a:pPr algn="ctr" indent="0" marL="0">
              <a:buNone/>
            </a:pPr>
            <a:r>
              <a:rPr lang="en-US" sz="1800" b="1" dirty="0">
                <a:solidFill>
                  <a:srgbClr val="F5A623"/>
                </a:solidFill>
              </a:rPr>
              <a:t>2.8×</a:t>
            </a:r>
            <a:endParaRPr lang="en-US" sz="1800" dirty="0"/>
          </a:p>
        </p:txBody>
      </p:sp>
      <p:sp>
        <p:nvSpPr>
          <p:cNvPr id="28" name="Text 26"/>
          <p:cNvSpPr/>
          <p:nvPr/>
        </p:nvSpPr>
        <p:spPr>
          <a:xfrm>
            <a:off x="1645920" y="4361688"/>
            <a:ext cx="1280160" cy="274320"/>
          </a:xfrm>
          <a:prstGeom prst="rect">
            <a:avLst/>
          </a:prstGeom>
          <a:noFill/>
          <a:ln/>
        </p:spPr>
        <p:txBody>
          <a:bodyPr wrap="square" lIns="0" tIns="0" rIns="0" bIns="0" rtlCol="0" anchor="ctr"/>
          <a:lstStyle/>
          <a:p>
            <a:pPr algn="ctr" indent="0" marL="0">
              <a:buNone/>
            </a:pPr>
            <a:r>
              <a:rPr lang="en-US" sz="900" dirty="0">
                <a:solidFill>
                  <a:srgbClr val="FFFFFF"/>
                </a:solidFill>
              </a:rPr>
              <a:t>Hệ số an</a:t>
            </a:r>
            <a:endParaRPr lang="en-US" sz="900" dirty="0"/>
          </a:p>
          <a:p>
            <a:pPr algn="ctr" indent="0" marL="0">
              <a:buNone/>
            </a:pPr>
            <a:r>
              <a:rPr lang="en-US" sz="900" dirty="0">
                <a:solidFill>
                  <a:srgbClr val="FFFFFF"/>
                </a:solidFill>
              </a:rPr>
              <a:t>toàn SF</a:t>
            </a:r>
            <a:endParaRPr lang="en-US" sz="900" dirty="0"/>
          </a:p>
        </p:txBody>
      </p:sp>
      <p:sp>
        <p:nvSpPr>
          <p:cNvPr id="29" name="Shape 27"/>
          <p:cNvSpPr/>
          <p:nvPr/>
        </p:nvSpPr>
        <p:spPr>
          <a:xfrm>
            <a:off x="3063240" y="4023360"/>
            <a:ext cx="1280160" cy="640080"/>
          </a:xfrm>
          <a:prstGeom prst="rect">
            <a:avLst/>
          </a:prstGeom>
          <a:solidFill>
            <a:srgbClr val="1A2B4C"/>
          </a:solidFill>
          <a:ln w="12700">
            <a:solidFill>
              <a:srgbClr val="E8750A"/>
            </a:solidFill>
            <a:prstDash val="solid"/>
          </a:ln>
        </p:spPr>
      </p:sp>
      <p:sp>
        <p:nvSpPr>
          <p:cNvPr id="30" name="Text 28"/>
          <p:cNvSpPr/>
          <p:nvPr/>
        </p:nvSpPr>
        <p:spPr>
          <a:xfrm>
            <a:off x="3063240" y="4041648"/>
            <a:ext cx="1280160" cy="320040"/>
          </a:xfrm>
          <a:prstGeom prst="rect">
            <a:avLst/>
          </a:prstGeom>
          <a:noFill/>
          <a:ln/>
        </p:spPr>
        <p:txBody>
          <a:bodyPr wrap="square" lIns="0" tIns="0" rIns="0" bIns="0" rtlCol="0" anchor="ctr"/>
          <a:lstStyle/>
          <a:p>
            <a:pPr algn="ctr" indent="0" marL="0">
              <a:buNone/>
            </a:pPr>
            <a:r>
              <a:rPr lang="en-US" sz="1800" b="1" dirty="0">
                <a:solidFill>
                  <a:srgbClr val="F5A623"/>
                </a:solidFill>
              </a:rPr>
              <a:t>↑35%</a:t>
            </a:r>
            <a:endParaRPr lang="en-US" sz="1800" dirty="0"/>
          </a:p>
        </p:txBody>
      </p:sp>
      <p:sp>
        <p:nvSpPr>
          <p:cNvPr id="31" name="Text 29"/>
          <p:cNvSpPr/>
          <p:nvPr/>
        </p:nvSpPr>
        <p:spPr>
          <a:xfrm>
            <a:off x="3063240" y="4361688"/>
            <a:ext cx="1280160" cy="274320"/>
          </a:xfrm>
          <a:prstGeom prst="rect">
            <a:avLst/>
          </a:prstGeom>
          <a:noFill/>
          <a:ln/>
        </p:spPr>
        <p:txBody>
          <a:bodyPr wrap="square" lIns="0" tIns="0" rIns="0" bIns="0" rtlCol="0" anchor="ctr"/>
          <a:lstStyle/>
          <a:p>
            <a:pPr algn="ctr" indent="0" marL="0">
              <a:buNone/>
            </a:pPr>
            <a:r>
              <a:rPr lang="en-US" sz="900" dirty="0">
                <a:solidFill>
                  <a:srgbClr val="FFFFFF"/>
                </a:solidFill>
              </a:rPr>
              <a:t>Tăng độ</a:t>
            </a:r>
            <a:endParaRPr lang="en-US" sz="900" dirty="0"/>
          </a:p>
          <a:p>
            <a:pPr algn="ctr" indent="0" marL="0">
              <a:buNone/>
            </a:pPr>
            <a:r>
              <a:rPr lang="en-US" sz="900" dirty="0">
                <a:solidFill>
                  <a:srgbClr val="FFFFFF"/>
                </a:solidFill>
              </a:rPr>
              <a:t>cứng vững</a:t>
            </a:r>
            <a:endParaRPr lang="en-US" sz="900" dirty="0"/>
          </a:p>
        </p:txBody>
      </p:sp>
      <p:sp>
        <p:nvSpPr>
          <p:cNvPr id="32" name="Shape 30"/>
          <p:cNvSpPr/>
          <p:nvPr/>
        </p:nvSpPr>
        <p:spPr>
          <a:xfrm>
            <a:off x="0" y="4846320"/>
            <a:ext cx="9144000" cy="297180"/>
          </a:xfrm>
          <a:prstGeom prst="rect">
            <a:avLst/>
          </a:prstGeom>
          <a:solidFill>
            <a:srgbClr val="1A2B4C"/>
          </a:solidFill>
          <a:ln w="12700">
            <a:solidFill>
              <a:srgbClr val="1A2B4C"/>
            </a:solidFill>
            <a:prstDash val="solid"/>
          </a:ln>
        </p:spPr>
      </p:sp>
      <p:sp>
        <p:nvSpPr>
          <p:cNvPr id="33" name="Text 31"/>
          <p:cNvSpPr/>
          <p:nvPr/>
        </p:nvSpPr>
        <p:spPr>
          <a:xfrm>
            <a:off x="182880" y="4846320"/>
            <a:ext cx="8778240" cy="297180"/>
          </a:xfrm>
          <a:prstGeom prst="rect">
            <a:avLst/>
          </a:prstGeom>
          <a:noFill/>
          <a:ln/>
        </p:spPr>
        <p:txBody>
          <a:bodyPr wrap="square" lIns="0" tIns="0" rIns="0" bIns="0" rtlCol="0" anchor="ctr"/>
          <a:lstStyle/>
          <a:p>
            <a:pPr indent="0" marL="0">
              <a:buNone/>
            </a:pPr>
            <a:r>
              <a:rPr lang="en-US" sz="1000" dirty="0">
                <a:solidFill>
                  <a:srgbClr val="E2E8F0"/>
                </a:solidFill>
              </a:rPr>
              <a:t>Thiết kế Sinh mẫu (Generative Design) — Giá đỡ kết cấu</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B4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53660"/>
          </a:solidFill>
          <a:ln w="12700">
            <a:solidFill>
              <a:srgbClr val="253660"/>
            </a:solidFill>
            <a:prstDash val="solid"/>
          </a:ln>
        </p:spPr>
      </p:sp>
      <p:sp>
        <p:nvSpPr>
          <p:cNvPr id="3" name="Text 1"/>
          <p:cNvSpPr/>
          <p:nvPr/>
        </p:nvSpPr>
        <p:spPr>
          <a:xfrm>
            <a:off x="320040" y="0"/>
            <a:ext cx="8229600" cy="777240"/>
          </a:xfrm>
          <a:prstGeom prst="rect">
            <a:avLst/>
          </a:prstGeom>
          <a:noFill/>
          <a:ln/>
        </p:spPr>
        <p:txBody>
          <a:bodyPr wrap="square" lIns="0" tIns="0" rIns="0" bIns="0" rtlCol="0" anchor="ctr"/>
          <a:lstStyle/>
          <a:p>
            <a:pPr indent="0" marL="0">
              <a:buNone/>
            </a:pPr>
            <a:r>
              <a:rPr lang="en-US" sz="2000" b="1" dirty="0">
                <a:solidFill>
                  <a:srgbClr val="FFFFFF"/>
                </a:solidFill>
              </a:rPr>
              <a:t>KẾT LUẬN &amp; TIỀM NĂNG CỦA THIẾT KẾ SINH MẪU</a:t>
            </a:r>
            <a:endParaRPr lang="en-US" sz="2000" dirty="0"/>
          </a:p>
        </p:txBody>
      </p:sp>
      <p:sp>
        <p:nvSpPr>
          <p:cNvPr id="4" name="Text 2"/>
          <p:cNvSpPr/>
          <p:nvPr/>
        </p:nvSpPr>
        <p:spPr>
          <a:xfrm>
            <a:off x="7772400" y="0"/>
            <a:ext cx="1188720" cy="777240"/>
          </a:xfrm>
          <a:prstGeom prst="rect">
            <a:avLst/>
          </a:prstGeom>
          <a:noFill/>
          <a:ln/>
        </p:spPr>
        <p:txBody>
          <a:bodyPr wrap="square" lIns="0" tIns="0" rIns="0" bIns="0" rtlCol="0" anchor="ctr"/>
          <a:lstStyle/>
          <a:p>
            <a:pPr algn="r" indent="0" marL="0">
              <a:buNone/>
            </a:pPr>
            <a:r>
              <a:rPr lang="en-US" sz="1000" dirty="0">
                <a:solidFill>
                  <a:srgbClr val="F5A623"/>
                </a:solidFill>
              </a:rPr>
              <a:t>Slide 5 / 5</a:t>
            </a:r>
            <a:endParaRPr lang="en-US" sz="1000" dirty="0"/>
          </a:p>
        </p:txBody>
      </p:sp>
      <p:sp>
        <p:nvSpPr>
          <p:cNvPr id="5" name="Shape 3"/>
          <p:cNvSpPr/>
          <p:nvPr/>
        </p:nvSpPr>
        <p:spPr>
          <a:xfrm>
            <a:off x="0" y="777240"/>
            <a:ext cx="73152" cy="4366260"/>
          </a:xfrm>
          <a:prstGeom prst="rect">
            <a:avLst/>
          </a:prstGeom>
          <a:solidFill>
            <a:srgbClr val="E8750A"/>
          </a:solidFill>
          <a:ln w="12700">
            <a:solidFill>
              <a:srgbClr val="E8750A"/>
            </a:solidFill>
            <a:prstDash val="solid"/>
          </a:ln>
        </p:spPr>
      </p:sp>
      <p:sp>
        <p:nvSpPr>
          <p:cNvPr id="6" name="Shape 4"/>
          <p:cNvSpPr/>
          <p:nvPr/>
        </p:nvSpPr>
        <p:spPr>
          <a:xfrm>
            <a:off x="228600" y="914400"/>
            <a:ext cx="5943600" cy="384048"/>
          </a:xfrm>
          <a:prstGeom prst="rect">
            <a:avLst/>
          </a:prstGeom>
          <a:solidFill>
            <a:srgbClr val="E8750A"/>
          </a:solidFill>
          <a:ln w="12700">
            <a:solidFill>
              <a:srgbClr val="E8750A"/>
            </a:solidFill>
            <a:prstDash val="solid"/>
          </a:ln>
        </p:spPr>
      </p:sp>
      <p:sp>
        <p:nvSpPr>
          <p:cNvPr id="7" name="Text 5"/>
          <p:cNvSpPr/>
          <p:nvPr/>
        </p:nvSpPr>
        <p:spPr>
          <a:xfrm>
            <a:off x="274320" y="914400"/>
            <a:ext cx="5852160" cy="384048"/>
          </a:xfrm>
          <a:prstGeom prst="rect">
            <a:avLst/>
          </a:prstGeom>
          <a:noFill/>
          <a:ln/>
        </p:spPr>
        <p:txBody>
          <a:bodyPr wrap="square" lIns="50800" tIns="50800" rIns="50800" bIns="50800" rtlCol="0" anchor="ctr"/>
          <a:lstStyle/>
          <a:p>
            <a:pPr indent="0" marL="0">
              <a:buNone/>
            </a:pPr>
            <a:r>
              <a:rPr lang="en-US" sz="1250" b="1" dirty="0">
                <a:solidFill>
                  <a:srgbClr val="FFFFFF"/>
                </a:solidFill>
              </a:rPr>
              <a:t>So sánh: Thiết kế truyền thống vs. Thiết kế Sinh mẫu AI</a:t>
            </a:r>
            <a:endParaRPr lang="en-US" sz="1250" dirty="0"/>
          </a:p>
        </p:txBody>
      </p:sp>
      <p:sp>
        <p:nvSpPr>
          <p:cNvPr id="8" name="Shape 6"/>
          <p:cNvSpPr/>
          <p:nvPr/>
        </p:nvSpPr>
        <p:spPr>
          <a:xfrm>
            <a:off x="228600" y="1298448"/>
            <a:ext cx="2057400" cy="365760"/>
          </a:xfrm>
          <a:prstGeom prst="rect">
            <a:avLst/>
          </a:prstGeom>
          <a:solidFill>
            <a:srgbClr val="253660"/>
          </a:solidFill>
          <a:ln w="6350">
            <a:solidFill>
              <a:srgbClr val="2A3D6A"/>
            </a:solidFill>
            <a:prstDash val="solid"/>
          </a:ln>
        </p:spPr>
      </p:sp>
      <p:sp>
        <p:nvSpPr>
          <p:cNvPr id="9" name="Text 7"/>
          <p:cNvSpPr/>
          <p:nvPr/>
        </p:nvSpPr>
        <p:spPr>
          <a:xfrm>
            <a:off x="283464" y="1298448"/>
            <a:ext cx="1965960" cy="365760"/>
          </a:xfrm>
          <a:prstGeom prst="rect">
            <a:avLst/>
          </a:prstGeom>
          <a:noFill/>
          <a:ln/>
        </p:spPr>
        <p:txBody>
          <a:bodyPr wrap="square" lIns="38100" tIns="38100" rIns="38100" bIns="38100" rtlCol="0" anchor="ctr"/>
          <a:lstStyle/>
          <a:p>
            <a:pPr indent="0" marL="0">
              <a:buNone/>
            </a:pPr>
            <a:r>
              <a:rPr lang="en-US" sz="1050" b="1" dirty="0">
                <a:solidFill>
                  <a:srgbClr val="F5A623"/>
                </a:solidFill>
              </a:rPr>
              <a:t>Tiêu chí</a:t>
            </a:r>
            <a:endParaRPr lang="en-US" sz="1050" dirty="0"/>
          </a:p>
        </p:txBody>
      </p:sp>
      <p:sp>
        <p:nvSpPr>
          <p:cNvPr id="10" name="Shape 8"/>
          <p:cNvSpPr/>
          <p:nvPr/>
        </p:nvSpPr>
        <p:spPr>
          <a:xfrm>
            <a:off x="2331720" y="1298448"/>
            <a:ext cx="2057400" cy="365760"/>
          </a:xfrm>
          <a:prstGeom prst="rect">
            <a:avLst/>
          </a:prstGeom>
          <a:solidFill>
            <a:srgbClr val="253660"/>
          </a:solidFill>
          <a:ln w="6350">
            <a:solidFill>
              <a:srgbClr val="2A3D6A"/>
            </a:solidFill>
            <a:prstDash val="solid"/>
          </a:ln>
        </p:spPr>
      </p:sp>
      <p:sp>
        <p:nvSpPr>
          <p:cNvPr id="11" name="Text 9"/>
          <p:cNvSpPr/>
          <p:nvPr/>
        </p:nvSpPr>
        <p:spPr>
          <a:xfrm>
            <a:off x="2386584" y="1298448"/>
            <a:ext cx="1965960" cy="365760"/>
          </a:xfrm>
          <a:prstGeom prst="rect">
            <a:avLst/>
          </a:prstGeom>
          <a:noFill/>
          <a:ln/>
        </p:spPr>
        <p:txBody>
          <a:bodyPr wrap="square" lIns="38100" tIns="38100" rIns="38100" bIns="38100" rtlCol="0" anchor="ctr"/>
          <a:lstStyle/>
          <a:p>
            <a:pPr indent="0" marL="0">
              <a:buNone/>
            </a:pPr>
            <a:r>
              <a:rPr lang="en-US" sz="1050" b="1" dirty="0">
                <a:solidFill>
                  <a:srgbClr val="F5A623"/>
                </a:solidFill>
              </a:rPr>
              <a:t>Truyền thống</a:t>
            </a:r>
            <a:endParaRPr lang="en-US" sz="1050" dirty="0"/>
          </a:p>
        </p:txBody>
      </p:sp>
      <p:sp>
        <p:nvSpPr>
          <p:cNvPr id="12" name="Shape 10"/>
          <p:cNvSpPr/>
          <p:nvPr/>
        </p:nvSpPr>
        <p:spPr>
          <a:xfrm>
            <a:off x="4434840" y="1298448"/>
            <a:ext cx="1965960" cy="365760"/>
          </a:xfrm>
          <a:prstGeom prst="rect">
            <a:avLst/>
          </a:prstGeom>
          <a:solidFill>
            <a:srgbClr val="253660"/>
          </a:solidFill>
          <a:ln w="6350">
            <a:solidFill>
              <a:srgbClr val="2A3D6A"/>
            </a:solidFill>
            <a:prstDash val="solid"/>
          </a:ln>
        </p:spPr>
      </p:sp>
      <p:sp>
        <p:nvSpPr>
          <p:cNvPr id="13" name="Text 11"/>
          <p:cNvSpPr/>
          <p:nvPr/>
        </p:nvSpPr>
        <p:spPr>
          <a:xfrm>
            <a:off x="4489704" y="1298448"/>
            <a:ext cx="1874520" cy="365760"/>
          </a:xfrm>
          <a:prstGeom prst="rect">
            <a:avLst/>
          </a:prstGeom>
          <a:noFill/>
          <a:ln/>
        </p:spPr>
        <p:txBody>
          <a:bodyPr wrap="square" lIns="38100" tIns="38100" rIns="38100" bIns="38100" rtlCol="0" anchor="ctr"/>
          <a:lstStyle/>
          <a:p>
            <a:pPr indent="0" marL="0">
              <a:buNone/>
            </a:pPr>
            <a:r>
              <a:rPr lang="en-US" sz="1050" b="1" dirty="0">
                <a:solidFill>
                  <a:srgbClr val="F5A623"/>
                </a:solidFill>
              </a:rPr>
              <a:t>Generative AI</a:t>
            </a:r>
            <a:endParaRPr lang="en-US" sz="1050" dirty="0"/>
          </a:p>
        </p:txBody>
      </p:sp>
      <p:sp>
        <p:nvSpPr>
          <p:cNvPr id="14" name="Shape 12"/>
          <p:cNvSpPr/>
          <p:nvPr/>
        </p:nvSpPr>
        <p:spPr>
          <a:xfrm>
            <a:off x="228600" y="1664208"/>
            <a:ext cx="2057400" cy="365760"/>
          </a:xfrm>
          <a:prstGeom prst="rect">
            <a:avLst/>
          </a:prstGeom>
          <a:solidFill>
            <a:srgbClr val="1E2F50"/>
          </a:solidFill>
          <a:ln w="6350">
            <a:solidFill>
              <a:srgbClr val="2A3D6A"/>
            </a:solidFill>
            <a:prstDash val="solid"/>
          </a:ln>
        </p:spPr>
      </p:sp>
      <p:sp>
        <p:nvSpPr>
          <p:cNvPr id="15" name="Text 13"/>
          <p:cNvSpPr/>
          <p:nvPr/>
        </p:nvSpPr>
        <p:spPr>
          <a:xfrm>
            <a:off x="283464" y="1664208"/>
            <a:ext cx="1965960" cy="365760"/>
          </a:xfrm>
          <a:prstGeom prst="rect">
            <a:avLst/>
          </a:prstGeom>
          <a:noFill/>
          <a:ln/>
        </p:spPr>
        <p:txBody>
          <a:bodyPr wrap="square" lIns="38100" tIns="38100" rIns="38100" bIns="38100" rtlCol="0" anchor="ctr"/>
          <a:lstStyle/>
          <a:p>
            <a:pPr indent="0" marL="0">
              <a:buNone/>
            </a:pPr>
            <a:r>
              <a:rPr lang="en-US" sz="1000" dirty="0">
                <a:solidFill>
                  <a:srgbClr val="FFFFFF"/>
                </a:solidFill>
              </a:rPr>
              <a:t>Khối lượng sản phẩm</a:t>
            </a:r>
            <a:endParaRPr lang="en-US" sz="1000" dirty="0"/>
          </a:p>
        </p:txBody>
      </p:sp>
      <p:sp>
        <p:nvSpPr>
          <p:cNvPr id="16" name="Shape 14"/>
          <p:cNvSpPr/>
          <p:nvPr/>
        </p:nvSpPr>
        <p:spPr>
          <a:xfrm>
            <a:off x="2331720" y="1664208"/>
            <a:ext cx="2057400" cy="365760"/>
          </a:xfrm>
          <a:prstGeom prst="rect">
            <a:avLst/>
          </a:prstGeom>
          <a:solidFill>
            <a:srgbClr val="1E2F50"/>
          </a:solidFill>
          <a:ln w="6350">
            <a:solidFill>
              <a:srgbClr val="2A3D6A"/>
            </a:solidFill>
            <a:prstDash val="solid"/>
          </a:ln>
        </p:spPr>
      </p:sp>
      <p:sp>
        <p:nvSpPr>
          <p:cNvPr id="17" name="Text 15"/>
          <p:cNvSpPr/>
          <p:nvPr/>
        </p:nvSpPr>
        <p:spPr>
          <a:xfrm>
            <a:off x="2386584" y="1664208"/>
            <a:ext cx="1965960" cy="365760"/>
          </a:xfrm>
          <a:prstGeom prst="rect">
            <a:avLst/>
          </a:prstGeom>
          <a:noFill/>
          <a:ln/>
        </p:spPr>
        <p:txBody>
          <a:bodyPr wrap="square" lIns="38100" tIns="38100" rIns="38100" bIns="38100" rtlCol="0" anchor="ctr"/>
          <a:lstStyle/>
          <a:p>
            <a:pPr indent="0" marL="0">
              <a:buNone/>
            </a:pPr>
            <a:r>
              <a:rPr lang="en-US" sz="1000" dirty="0">
                <a:solidFill>
                  <a:srgbClr val="FFFFFF"/>
                </a:solidFill>
              </a:rPr>
              <a:t>~1.2 kg (đặc)</a:t>
            </a:r>
            <a:endParaRPr lang="en-US" sz="1000" dirty="0"/>
          </a:p>
        </p:txBody>
      </p:sp>
      <p:sp>
        <p:nvSpPr>
          <p:cNvPr id="18" name="Shape 16"/>
          <p:cNvSpPr/>
          <p:nvPr/>
        </p:nvSpPr>
        <p:spPr>
          <a:xfrm>
            <a:off x="4434840" y="1664208"/>
            <a:ext cx="1965960" cy="365760"/>
          </a:xfrm>
          <a:prstGeom prst="rect">
            <a:avLst/>
          </a:prstGeom>
          <a:solidFill>
            <a:srgbClr val="1E2F50"/>
          </a:solidFill>
          <a:ln w="6350">
            <a:solidFill>
              <a:srgbClr val="2A3D6A"/>
            </a:solidFill>
            <a:prstDash val="solid"/>
          </a:ln>
        </p:spPr>
      </p:sp>
      <p:sp>
        <p:nvSpPr>
          <p:cNvPr id="19" name="Text 17"/>
          <p:cNvSpPr/>
          <p:nvPr/>
        </p:nvSpPr>
        <p:spPr>
          <a:xfrm>
            <a:off x="4489704" y="1664208"/>
            <a:ext cx="1874520" cy="365760"/>
          </a:xfrm>
          <a:prstGeom prst="rect">
            <a:avLst/>
          </a:prstGeom>
          <a:noFill/>
          <a:ln/>
        </p:spPr>
        <p:txBody>
          <a:bodyPr wrap="square" lIns="38100" tIns="38100" rIns="38100" bIns="38100" rtlCol="0" anchor="ctr"/>
          <a:lstStyle/>
          <a:p>
            <a:pPr indent="0" marL="0">
              <a:buNone/>
            </a:pPr>
            <a:r>
              <a:rPr lang="en-US" sz="1000" dirty="0">
                <a:solidFill>
                  <a:srgbClr val="7EE8A2"/>
                </a:solidFill>
              </a:rPr>
              <a:t>~0.70 kg (−42%)</a:t>
            </a:r>
            <a:endParaRPr lang="en-US" sz="1000" dirty="0"/>
          </a:p>
        </p:txBody>
      </p:sp>
      <p:sp>
        <p:nvSpPr>
          <p:cNvPr id="20" name="Shape 18"/>
          <p:cNvSpPr/>
          <p:nvPr/>
        </p:nvSpPr>
        <p:spPr>
          <a:xfrm>
            <a:off x="228600" y="2029968"/>
            <a:ext cx="2057400" cy="365760"/>
          </a:xfrm>
          <a:prstGeom prst="rect">
            <a:avLst/>
          </a:prstGeom>
          <a:solidFill>
            <a:srgbClr val="253660"/>
          </a:solidFill>
          <a:ln w="6350">
            <a:solidFill>
              <a:srgbClr val="2A3D6A"/>
            </a:solidFill>
            <a:prstDash val="solid"/>
          </a:ln>
        </p:spPr>
      </p:sp>
      <p:sp>
        <p:nvSpPr>
          <p:cNvPr id="21" name="Text 19"/>
          <p:cNvSpPr/>
          <p:nvPr/>
        </p:nvSpPr>
        <p:spPr>
          <a:xfrm>
            <a:off x="283464" y="2029968"/>
            <a:ext cx="1965960" cy="365760"/>
          </a:xfrm>
          <a:prstGeom prst="rect">
            <a:avLst/>
          </a:prstGeom>
          <a:noFill/>
          <a:ln/>
        </p:spPr>
        <p:txBody>
          <a:bodyPr wrap="square" lIns="38100" tIns="38100" rIns="38100" bIns="38100" rtlCol="0" anchor="ctr"/>
          <a:lstStyle/>
          <a:p>
            <a:pPr indent="0" marL="0">
              <a:buNone/>
            </a:pPr>
            <a:r>
              <a:rPr lang="en-US" sz="1000" dirty="0">
                <a:solidFill>
                  <a:srgbClr val="FFFFFF"/>
                </a:solidFill>
              </a:rPr>
              <a:t>Thời gian thiết kế</a:t>
            </a:r>
            <a:endParaRPr lang="en-US" sz="1000" dirty="0"/>
          </a:p>
        </p:txBody>
      </p:sp>
      <p:sp>
        <p:nvSpPr>
          <p:cNvPr id="22" name="Shape 20"/>
          <p:cNvSpPr/>
          <p:nvPr/>
        </p:nvSpPr>
        <p:spPr>
          <a:xfrm>
            <a:off x="2331720" y="2029968"/>
            <a:ext cx="2057400" cy="365760"/>
          </a:xfrm>
          <a:prstGeom prst="rect">
            <a:avLst/>
          </a:prstGeom>
          <a:solidFill>
            <a:srgbClr val="253660"/>
          </a:solidFill>
          <a:ln w="6350">
            <a:solidFill>
              <a:srgbClr val="2A3D6A"/>
            </a:solidFill>
            <a:prstDash val="solid"/>
          </a:ln>
        </p:spPr>
      </p:sp>
      <p:sp>
        <p:nvSpPr>
          <p:cNvPr id="23" name="Text 21"/>
          <p:cNvSpPr/>
          <p:nvPr/>
        </p:nvSpPr>
        <p:spPr>
          <a:xfrm>
            <a:off x="2386584" y="2029968"/>
            <a:ext cx="1965960" cy="365760"/>
          </a:xfrm>
          <a:prstGeom prst="rect">
            <a:avLst/>
          </a:prstGeom>
          <a:noFill/>
          <a:ln/>
        </p:spPr>
        <p:txBody>
          <a:bodyPr wrap="square" lIns="38100" tIns="38100" rIns="38100" bIns="38100" rtlCol="0" anchor="ctr"/>
          <a:lstStyle/>
          <a:p>
            <a:pPr indent="0" marL="0">
              <a:buNone/>
            </a:pPr>
            <a:r>
              <a:rPr lang="en-US" sz="1000" dirty="0">
                <a:solidFill>
                  <a:srgbClr val="FFFFFF"/>
                </a:solidFill>
              </a:rPr>
              <a:t>3–5 ngày</a:t>
            </a:r>
            <a:endParaRPr lang="en-US" sz="1000" dirty="0"/>
          </a:p>
        </p:txBody>
      </p:sp>
      <p:sp>
        <p:nvSpPr>
          <p:cNvPr id="24" name="Shape 22"/>
          <p:cNvSpPr/>
          <p:nvPr/>
        </p:nvSpPr>
        <p:spPr>
          <a:xfrm>
            <a:off x="4434840" y="2029968"/>
            <a:ext cx="1965960" cy="365760"/>
          </a:xfrm>
          <a:prstGeom prst="rect">
            <a:avLst/>
          </a:prstGeom>
          <a:solidFill>
            <a:srgbClr val="253660"/>
          </a:solidFill>
          <a:ln w="6350">
            <a:solidFill>
              <a:srgbClr val="2A3D6A"/>
            </a:solidFill>
            <a:prstDash val="solid"/>
          </a:ln>
        </p:spPr>
      </p:sp>
      <p:sp>
        <p:nvSpPr>
          <p:cNvPr id="25" name="Text 23"/>
          <p:cNvSpPr/>
          <p:nvPr/>
        </p:nvSpPr>
        <p:spPr>
          <a:xfrm>
            <a:off x="4489704" y="2029968"/>
            <a:ext cx="1874520" cy="365760"/>
          </a:xfrm>
          <a:prstGeom prst="rect">
            <a:avLst/>
          </a:prstGeom>
          <a:noFill/>
          <a:ln/>
        </p:spPr>
        <p:txBody>
          <a:bodyPr wrap="square" lIns="38100" tIns="38100" rIns="38100" bIns="38100" rtlCol="0" anchor="ctr"/>
          <a:lstStyle/>
          <a:p>
            <a:pPr indent="0" marL="0">
              <a:buNone/>
            </a:pPr>
            <a:r>
              <a:rPr lang="en-US" sz="1000" dirty="0">
                <a:solidFill>
                  <a:srgbClr val="7EE8A2"/>
                </a:solidFill>
              </a:rPr>
              <a:t>2–4 giờ (AI xử lý)</a:t>
            </a:r>
            <a:endParaRPr lang="en-US" sz="1000" dirty="0"/>
          </a:p>
        </p:txBody>
      </p:sp>
      <p:sp>
        <p:nvSpPr>
          <p:cNvPr id="26" name="Shape 24"/>
          <p:cNvSpPr/>
          <p:nvPr/>
        </p:nvSpPr>
        <p:spPr>
          <a:xfrm>
            <a:off x="228600" y="2395728"/>
            <a:ext cx="2057400" cy="365760"/>
          </a:xfrm>
          <a:prstGeom prst="rect">
            <a:avLst/>
          </a:prstGeom>
          <a:solidFill>
            <a:srgbClr val="1E2F50"/>
          </a:solidFill>
          <a:ln w="6350">
            <a:solidFill>
              <a:srgbClr val="2A3D6A"/>
            </a:solidFill>
            <a:prstDash val="solid"/>
          </a:ln>
        </p:spPr>
      </p:sp>
      <p:sp>
        <p:nvSpPr>
          <p:cNvPr id="27" name="Text 25"/>
          <p:cNvSpPr/>
          <p:nvPr/>
        </p:nvSpPr>
        <p:spPr>
          <a:xfrm>
            <a:off x="283464" y="2395728"/>
            <a:ext cx="1965960" cy="365760"/>
          </a:xfrm>
          <a:prstGeom prst="rect">
            <a:avLst/>
          </a:prstGeom>
          <a:noFill/>
          <a:ln/>
        </p:spPr>
        <p:txBody>
          <a:bodyPr wrap="square" lIns="38100" tIns="38100" rIns="38100" bIns="38100" rtlCol="0" anchor="ctr"/>
          <a:lstStyle/>
          <a:p>
            <a:pPr indent="0" marL="0">
              <a:buNone/>
            </a:pPr>
            <a:r>
              <a:rPr lang="en-US" sz="1000" dirty="0">
                <a:solidFill>
                  <a:srgbClr val="FFFFFF"/>
                </a:solidFill>
              </a:rPr>
              <a:t>Hệ số an toàn SF</a:t>
            </a:r>
            <a:endParaRPr lang="en-US" sz="1000" dirty="0"/>
          </a:p>
        </p:txBody>
      </p:sp>
      <p:sp>
        <p:nvSpPr>
          <p:cNvPr id="28" name="Shape 26"/>
          <p:cNvSpPr/>
          <p:nvPr/>
        </p:nvSpPr>
        <p:spPr>
          <a:xfrm>
            <a:off x="2331720" y="2395728"/>
            <a:ext cx="2057400" cy="365760"/>
          </a:xfrm>
          <a:prstGeom prst="rect">
            <a:avLst/>
          </a:prstGeom>
          <a:solidFill>
            <a:srgbClr val="1E2F50"/>
          </a:solidFill>
          <a:ln w="6350">
            <a:solidFill>
              <a:srgbClr val="2A3D6A"/>
            </a:solidFill>
            <a:prstDash val="solid"/>
          </a:ln>
        </p:spPr>
      </p:sp>
      <p:sp>
        <p:nvSpPr>
          <p:cNvPr id="29" name="Text 27"/>
          <p:cNvSpPr/>
          <p:nvPr/>
        </p:nvSpPr>
        <p:spPr>
          <a:xfrm>
            <a:off x="2386584" y="2395728"/>
            <a:ext cx="1965960" cy="365760"/>
          </a:xfrm>
          <a:prstGeom prst="rect">
            <a:avLst/>
          </a:prstGeom>
          <a:noFill/>
          <a:ln/>
        </p:spPr>
        <p:txBody>
          <a:bodyPr wrap="square" lIns="38100" tIns="38100" rIns="38100" bIns="38100" rtlCol="0" anchor="ctr"/>
          <a:lstStyle/>
          <a:p>
            <a:pPr indent="0" marL="0">
              <a:buNone/>
            </a:pPr>
            <a:r>
              <a:rPr lang="en-US" sz="1000" dirty="0">
                <a:solidFill>
                  <a:srgbClr val="FFFFFF"/>
                </a:solidFill>
              </a:rPr>
              <a:t>~1.8 (ước lượng)</a:t>
            </a:r>
            <a:endParaRPr lang="en-US" sz="1000" dirty="0"/>
          </a:p>
        </p:txBody>
      </p:sp>
      <p:sp>
        <p:nvSpPr>
          <p:cNvPr id="30" name="Shape 28"/>
          <p:cNvSpPr/>
          <p:nvPr/>
        </p:nvSpPr>
        <p:spPr>
          <a:xfrm>
            <a:off x="4434840" y="2395728"/>
            <a:ext cx="1965960" cy="365760"/>
          </a:xfrm>
          <a:prstGeom prst="rect">
            <a:avLst/>
          </a:prstGeom>
          <a:solidFill>
            <a:srgbClr val="1E2F50"/>
          </a:solidFill>
          <a:ln w="6350">
            <a:solidFill>
              <a:srgbClr val="2A3D6A"/>
            </a:solidFill>
            <a:prstDash val="solid"/>
          </a:ln>
        </p:spPr>
      </p:sp>
      <p:sp>
        <p:nvSpPr>
          <p:cNvPr id="31" name="Text 29"/>
          <p:cNvSpPr/>
          <p:nvPr/>
        </p:nvSpPr>
        <p:spPr>
          <a:xfrm>
            <a:off x="4489704" y="2395728"/>
            <a:ext cx="1874520" cy="365760"/>
          </a:xfrm>
          <a:prstGeom prst="rect">
            <a:avLst/>
          </a:prstGeom>
          <a:noFill/>
          <a:ln/>
        </p:spPr>
        <p:txBody>
          <a:bodyPr wrap="square" lIns="38100" tIns="38100" rIns="38100" bIns="38100" rtlCol="0" anchor="ctr"/>
          <a:lstStyle/>
          <a:p>
            <a:pPr indent="0" marL="0">
              <a:buNone/>
            </a:pPr>
            <a:r>
              <a:rPr lang="en-US" sz="1000" dirty="0">
                <a:solidFill>
                  <a:srgbClr val="7EE8A2"/>
                </a:solidFill>
              </a:rPr>
              <a:t>2.8 (đã xác minh FEA)</a:t>
            </a:r>
            <a:endParaRPr lang="en-US" sz="1000" dirty="0"/>
          </a:p>
        </p:txBody>
      </p:sp>
      <p:sp>
        <p:nvSpPr>
          <p:cNvPr id="32" name="Shape 30"/>
          <p:cNvSpPr/>
          <p:nvPr/>
        </p:nvSpPr>
        <p:spPr>
          <a:xfrm>
            <a:off x="228600" y="2761488"/>
            <a:ext cx="2057400" cy="365760"/>
          </a:xfrm>
          <a:prstGeom prst="rect">
            <a:avLst/>
          </a:prstGeom>
          <a:solidFill>
            <a:srgbClr val="253660"/>
          </a:solidFill>
          <a:ln w="6350">
            <a:solidFill>
              <a:srgbClr val="2A3D6A"/>
            </a:solidFill>
            <a:prstDash val="solid"/>
          </a:ln>
        </p:spPr>
      </p:sp>
      <p:sp>
        <p:nvSpPr>
          <p:cNvPr id="33" name="Text 31"/>
          <p:cNvSpPr/>
          <p:nvPr/>
        </p:nvSpPr>
        <p:spPr>
          <a:xfrm>
            <a:off x="283464" y="2761488"/>
            <a:ext cx="1965960" cy="365760"/>
          </a:xfrm>
          <a:prstGeom prst="rect">
            <a:avLst/>
          </a:prstGeom>
          <a:noFill/>
          <a:ln/>
        </p:spPr>
        <p:txBody>
          <a:bodyPr wrap="square" lIns="38100" tIns="38100" rIns="38100" bIns="38100" rtlCol="0" anchor="ctr"/>
          <a:lstStyle/>
          <a:p>
            <a:pPr indent="0" marL="0">
              <a:buNone/>
            </a:pPr>
            <a:r>
              <a:rPr lang="en-US" sz="1000" dirty="0">
                <a:solidFill>
                  <a:srgbClr val="FFFFFF"/>
                </a:solidFill>
              </a:rPr>
              <a:t>Hình dạng kết cấu</a:t>
            </a:r>
            <a:endParaRPr lang="en-US" sz="1000" dirty="0"/>
          </a:p>
        </p:txBody>
      </p:sp>
      <p:sp>
        <p:nvSpPr>
          <p:cNvPr id="34" name="Shape 32"/>
          <p:cNvSpPr/>
          <p:nvPr/>
        </p:nvSpPr>
        <p:spPr>
          <a:xfrm>
            <a:off x="2331720" y="2761488"/>
            <a:ext cx="2057400" cy="365760"/>
          </a:xfrm>
          <a:prstGeom prst="rect">
            <a:avLst/>
          </a:prstGeom>
          <a:solidFill>
            <a:srgbClr val="253660"/>
          </a:solidFill>
          <a:ln w="6350">
            <a:solidFill>
              <a:srgbClr val="2A3D6A"/>
            </a:solidFill>
            <a:prstDash val="solid"/>
          </a:ln>
        </p:spPr>
      </p:sp>
      <p:sp>
        <p:nvSpPr>
          <p:cNvPr id="35" name="Text 33"/>
          <p:cNvSpPr/>
          <p:nvPr/>
        </p:nvSpPr>
        <p:spPr>
          <a:xfrm>
            <a:off x="2386584" y="2761488"/>
            <a:ext cx="1965960" cy="365760"/>
          </a:xfrm>
          <a:prstGeom prst="rect">
            <a:avLst/>
          </a:prstGeom>
          <a:noFill/>
          <a:ln/>
        </p:spPr>
        <p:txBody>
          <a:bodyPr wrap="square" lIns="38100" tIns="38100" rIns="38100" bIns="38100" rtlCol="0" anchor="ctr"/>
          <a:lstStyle/>
          <a:p>
            <a:pPr indent="0" marL="0">
              <a:buNone/>
            </a:pPr>
            <a:r>
              <a:rPr lang="en-US" sz="1000" dirty="0">
                <a:solidFill>
                  <a:srgbClr val="FFFFFF"/>
                </a:solidFill>
              </a:rPr>
              <a:t>Hình học đơn giản</a:t>
            </a:r>
            <a:endParaRPr lang="en-US" sz="1000" dirty="0"/>
          </a:p>
        </p:txBody>
      </p:sp>
      <p:sp>
        <p:nvSpPr>
          <p:cNvPr id="36" name="Shape 34"/>
          <p:cNvSpPr/>
          <p:nvPr/>
        </p:nvSpPr>
        <p:spPr>
          <a:xfrm>
            <a:off x="4434840" y="2761488"/>
            <a:ext cx="1965960" cy="365760"/>
          </a:xfrm>
          <a:prstGeom prst="rect">
            <a:avLst/>
          </a:prstGeom>
          <a:solidFill>
            <a:srgbClr val="253660"/>
          </a:solidFill>
          <a:ln w="6350">
            <a:solidFill>
              <a:srgbClr val="2A3D6A"/>
            </a:solidFill>
            <a:prstDash val="solid"/>
          </a:ln>
        </p:spPr>
      </p:sp>
      <p:sp>
        <p:nvSpPr>
          <p:cNvPr id="37" name="Text 35"/>
          <p:cNvSpPr/>
          <p:nvPr/>
        </p:nvSpPr>
        <p:spPr>
          <a:xfrm>
            <a:off x="4489704" y="2761488"/>
            <a:ext cx="1874520" cy="365760"/>
          </a:xfrm>
          <a:prstGeom prst="rect">
            <a:avLst/>
          </a:prstGeom>
          <a:noFill/>
          <a:ln/>
        </p:spPr>
        <p:txBody>
          <a:bodyPr wrap="square" lIns="38100" tIns="38100" rIns="38100" bIns="38100" rtlCol="0" anchor="ctr"/>
          <a:lstStyle/>
          <a:p>
            <a:pPr indent="0" marL="0">
              <a:buNone/>
            </a:pPr>
            <a:r>
              <a:rPr lang="en-US" sz="1000" dirty="0">
                <a:solidFill>
                  <a:srgbClr val="7EE8A2"/>
                </a:solidFill>
              </a:rPr>
              <a:t>Hữu cơ, tối ưu Load Path</a:t>
            </a:r>
            <a:endParaRPr lang="en-US" sz="1000" dirty="0"/>
          </a:p>
        </p:txBody>
      </p:sp>
      <p:sp>
        <p:nvSpPr>
          <p:cNvPr id="38" name="Shape 36"/>
          <p:cNvSpPr/>
          <p:nvPr/>
        </p:nvSpPr>
        <p:spPr>
          <a:xfrm>
            <a:off x="228600" y="3127248"/>
            <a:ext cx="2057400" cy="365760"/>
          </a:xfrm>
          <a:prstGeom prst="rect">
            <a:avLst/>
          </a:prstGeom>
          <a:solidFill>
            <a:srgbClr val="1E2F50"/>
          </a:solidFill>
          <a:ln w="6350">
            <a:solidFill>
              <a:srgbClr val="2A3D6A"/>
            </a:solidFill>
            <a:prstDash val="solid"/>
          </a:ln>
        </p:spPr>
      </p:sp>
      <p:sp>
        <p:nvSpPr>
          <p:cNvPr id="39" name="Text 37"/>
          <p:cNvSpPr/>
          <p:nvPr/>
        </p:nvSpPr>
        <p:spPr>
          <a:xfrm>
            <a:off x="283464" y="3127248"/>
            <a:ext cx="1965960" cy="365760"/>
          </a:xfrm>
          <a:prstGeom prst="rect">
            <a:avLst/>
          </a:prstGeom>
          <a:noFill/>
          <a:ln/>
        </p:spPr>
        <p:txBody>
          <a:bodyPr wrap="square" lIns="38100" tIns="38100" rIns="38100" bIns="38100" rtlCol="0" anchor="ctr"/>
          <a:lstStyle/>
          <a:p>
            <a:pPr indent="0" marL="0">
              <a:buNone/>
            </a:pPr>
            <a:r>
              <a:rPr lang="en-US" sz="1000" dirty="0">
                <a:solidFill>
                  <a:srgbClr val="FFFFFF"/>
                </a:solidFill>
              </a:rPr>
              <a:t>Tận dụng vật liệu</a:t>
            </a:r>
            <a:endParaRPr lang="en-US" sz="1000" dirty="0"/>
          </a:p>
        </p:txBody>
      </p:sp>
      <p:sp>
        <p:nvSpPr>
          <p:cNvPr id="40" name="Shape 38"/>
          <p:cNvSpPr/>
          <p:nvPr/>
        </p:nvSpPr>
        <p:spPr>
          <a:xfrm>
            <a:off x="2331720" y="3127248"/>
            <a:ext cx="2057400" cy="365760"/>
          </a:xfrm>
          <a:prstGeom prst="rect">
            <a:avLst/>
          </a:prstGeom>
          <a:solidFill>
            <a:srgbClr val="1E2F50"/>
          </a:solidFill>
          <a:ln w="6350">
            <a:solidFill>
              <a:srgbClr val="2A3D6A"/>
            </a:solidFill>
            <a:prstDash val="solid"/>
          </a:ln>
        </p:spPr>
      </p:sp>
      <p:sp>
        <p:nvSpPr>
          <p:cNvPr id="41" name="Text 39"/>
          <p:cNvSpPr/>
          <p:nvPr/>
        </p:nvSpPr>
        <p:spPr>
          <a:xfrm>
            <a:off x="2386584" y="3127248"/>
            <a:ext cx="1965960" cy="365760"/>
          </a:xfrm>
          <a:prstGeom prst="rect">
            <a:avLst/>
          </a:prstGeom>
          <a:noFill/>
          <a:ln/>
        </p:spPr>
        <p:txBody>
          <a:bodyPr wrap="square" lIns="38100" tIns="38100" rIns="38100" bIns="38100" rtlCol="0" anchor="ctr"/>
          <a:lstStyle/>
          <a:p>
            <a:pPr indent="0" marL="0">
              <a:buNone/>
            </a:pPr>
            <a:r>
              <a:rPr lang="en-US" sz="1000" dirty="0">
                <a:solidFill>
                  <a:srgbClr val="FFFFFF"/>
                </a:solidFill>
              </a:rPr>
              <a:t>~60% hiệu quả</a:t>
            </a:r>
            <a:endParaRPr lang="en-US" sz="1000" dirty="0"/>
          </a:p>
        </p:txBody>
      </p:sp>
      <p:sp>
        <p:nvSpPr>
          <p:cNvPr id="42" name="Shape 40"/>
          <p:cNvSpPr/>
          <p:nvPr/>
        </p:nvSpPr>
        <p:spPr>
          <a:xfrm>
            <a:off x="4434840" y="3127248"/>
            <a:ext cx="1965960" cy="365760"/>
          </a:xfrm>
          <a:prstGeom prst="rect">
            <a:avLst/>
          </a:prstGeom>
          <a:solidFill>
            <a:srgbClr val="1E2F50"/>
          </a:solidFill>
          <a:ln w="6350">
            <a:solidFill>
              <a:srgbClr val="2A3D6A"/>
            </a:solidFill>
            <a:prstDash val="solid"/>
          </a:ln>
        </p:spPr>
      </p:sp>
      <p:sp>
        <p:nvSpPr>
          <p:cNvPr id="43" name="Text 41"/>
          <p:cNvSpPr/>
          <p:nvPr/>
        </p:nvSpPr>
        <p:spPr>
          <a:xfrm>
            <a:off x="4489704" y="3127248"/>
            <a:ext cx="1874520" cy="365760"/>
          </a:xfrm>
          <a:prstGeom prst="rect">
            <a:avLst/>
          </a:prstGeom>
          <a:noFill/>
          <a:ln/>
        </p:spPr>
        <p:txBody>
          <a:bodyPr wrap="square" lIns="38100" tIns="38100" rIns="38100" bIns="38100" rtlCol="0" anchor="ctr"/>
          <a:lstStyle/>
          <a:p>
            <a:pPr indent="0" marL="0">
              <a:buNone/>
            </a:pPr>
            <a:r>
              <a:rPr lang="en-US" sz="1000" dirty="0">
                <a:solidFill>
                  <a:srgbClr val="7EE8A2"/>
                </a:solidFill>
              </a:rPr>
              <a:t>~92% hiệu quả</a:t>
            </a:r>
            <a:endParaRPr lang="en-US" sz="1000" dirty="0"/>
          </a:p>
        </p:txBody>
      </p:sp>
      <p:sp>
        <p:nvSpPr>
          <p:cNvPr id="44" name="Shape 42"/>
          <p:cNvSpPr/>
          <p:nvPr/>
        </p:nvSpPr>
        <p:spPr>
          <a:xfrm>
            <a:off x="6492240" y="914400"/>
            <a:ext cx="2423160" cy="384048"/>
          </a:xfrm>
          <a:prstGeom prst="rect">
            <a:avLst/>
          </a:prstGeom>
          <a:solidFill>
            <a:srgbClr val="0D9488"/>
          </a:solidFill>
          <a:ln w="12700">
            <a:solidFill>
              <a:srgbClr val="0D9488"/>
            </a:solidFill>
            <a:prstDash val="solid"/>
          </a:ln>
        </p:spPr>
      </p:sp>
      <p:sp>
        <p:nvSpPr>
          <p:cNvPr id="45" name="Text 43"/>
          <p:cNvSpPr/>
          <p:nvPr/>
        </p:nvSpPr>
        <p:spPr>
          <a:xfrm>
            <a:off x="6537960" y="914400"/>
            <a:ext cx="2331720" cy="384048"/>
          </a:xfrm>
          <a:prstGeom prst="rect">
            <a:avLst/>
          </a:prstGeom>
          <a:noFill/>
          <a:ln/>
        </p:spPr>
        <p:txBody>
          <a:bodyPr wrap="square" lIns="50800" tIns="50800" rIns="50800" bIns="50800" rtlCol="0" anchor="ctr"/>
          <a:lstStyle/>
          <a:p>
            <a:pPr indent="0" marL="0">
              <a:buNone/>
            </a:pPr>
            <a:r>
              <a:rPr lang="en-US" sz="1200" b="1" dirty="0">
                <a:solidFill>
                  <a:srgbClr val="FFFFFF"/>
                </a:solidFill>
              </a:rPr>
              <a:t>✅  Điểm quan trọng</a:t>
            </a:r>
            <a:endParaRPr lang="en-US" sz="1200" dirty="0"/>
          </a:p>
        </p:txBody>
      </p:sp>
      <p:sp>
        <p:nvSpPr>
          <p:cNvPr id="46" name="Shape 44"/>
          <p:cNvSpPr/>
          <p:nvPr/>
        </p:nvSpPr>
        <p:spPr>
          <a:xfrm>
            <a:off x="6492240" y="1371600"/>
            <a:ext cx="36576" cy="566928"/>
          </a:xfrm>
          <a:prstGeom prst="rect">
            <a:avLst/>
          </a:prstGeom>
          <a:solidFill>
            <a:srgbClr val="E8750A"/>
          </a:solidFill>
          <a:ln w="12700">
            <a:solidFill>
              <a:srgbClr val="E8750A"/>
            </a:solidFill>
            <a:prstDash val="solid"/>
          </a:ln>
        </p:spPr>
      </p:sp>
      <p:sp>
        <p:nvSpPr>
          <p:cNvPr id="47" name="Text 45"/>
          <p:cNvSpPr/>
          <p:nvPr/>
        </p:nvSpPr>
        <p:spPr>
          <a:xfrm>
            <a:off x="6583680" y="1371600"/>
            <a:ext cx="2286000" cy="566928"/>
          </a:xfrm>
          <a:prstGeom prst="rect">
            <a:avLst/>
          </a:prstGeom>
          <a:noFill/>
          <a:ln/>
        </p:spPr>
        <p:txBody>
          <a:bodyPr wrap="square" lIns="38100" tIns="38100" rIns="38100" bIns="38100" rtlCol="0" anchor="ctr"/>
          <a:lstStyle/>
          <a:p>
            <a:pPr indent="0" marL="0">
              <a:buNone/>
            </a:pPr>
            <a:r>
              <a:rPr lang="en-US" sz="950" dirty="0">
                <a:solidFill>
                  <a:srgbClr val="FFFFFF"/>
                </a:solidFill>
              </a:rPr>
              <a:t>AI không thay thế kỹ sư — AI đưa ra giải pháp, kỹ sư đặt ra ràng buộc và lựa chọn phương án tối ưu.</a:t>
            </a:r>
            <a:endParaRPr lang="en-US" sz="950" dirty="0"/>
          </a:p>
        </p:txBody>
      </p:sp>
      <p:sp>
        <p:nvSpPr>
          <p:cNvPr id="48" name="Shape 46"/>
          <p:cNvSpPr/>
          <p:nvPr/>
        </p:nvSpPr>
        <p:spPr>
          <a:xfrm>
            <a:off x="6492240" y="2029968"/>
            <a:ext cx="36576" cy="566928"/>
          </a:xfrm>
          <a:prstGeom prst="rect">
            <a:avLst/>
          </a:prstGeom>
          <a:solidFill>
            <a:srgbClr val="E8750A"/>
          </a:solidFill>
          <a:ln w="12700">
            <a:solidFill>
              <a:srgbClr val="E8750A"/>
            </a:solidFill>
            <a:prstDash val="solid"/>
          </a:ln>
        </p:spPr>
      </p:sp>
      <p:sp>
        <p:nvSpPr>
          <p:cNvPr id="49" name="Text 47"/>
          <p:cNvSpPr/>
          <p:nvPr/>
        </p:nvSpPr>
        <p:spPr>
          <a:xfrm>
            <a:off x="6583680" y="2029968"/>
            <a:ext cx="2286000" cy="566928"/>
          </a:xfrm>
          <a:prstGeom prst="rect">
            <a:avLst/>
          </a:prstGeom>
          <a:noFill/>
          <a:ln/>
        </p:spPr>
        <p:txBody>
          <a:bodyPr wrap="square" lIns="38100" tIns="38100" rIns="38100" bIns="38100" rtlCol="0" anchor="ctr"/>
          <a:lstStyle/>
          <a:p>
            <a:pPr indent="0" marL="0">
              <a:buNone/>
            </a:pPr>
            <a:r>
              <a:rPr lang="en-US" sz="950" dirty="0">
                <a:solidFill>
                  <a:srgbClr val="FFFFFF"/>
                </a:solidFill>
              </a:rPr>
              <a:t>Hình dạng hữu cơ phức tạp chỉ khả thi với in 3D (AM), không thể gia công CNC truyền thống.</a:t>
            </a:r>
            <a:endParaRPr lang="en-US" sz="950" dirty="0"/>
          </a:p>
        </p:txBody>
      </p:sp>
      <p:sp>
        <p:nvSpPr>
          <p:cNvPr id="50" name="Shape 48"/>
          <p:cNvSpPr/>
          <p:nvPr/>
        </p:nvSpPr>
        <p:spPr>
          <a:xfrm>
            <a:off x="6492240" y="2688336"/>
            <a:ext cx="36576" cy="566928"/>
          </a:xfrm>
          <a:prstGeom prst="rect">
            <a:avLst/>
          </a:prstGeom>
          <a:solidFill>
            <a:srgbClr val="E8750A"/>
          </a:solidFill>
          <a:ln w="12700">
            <a:solidFill>
              <a:srgbClr val="E8750A"/>
            </a:solidFill>
            <a:prstDash val="solid"/>
          </a:ln>
        </p:spPr>
      </p:sp>
      <p:sp>
        <p:nvSpPr>
          <p:cNvPr id="51" name="Text 49"/>
          <p:cNvSpPr/>
          <p:nvPr/>
        </p:nvSpPr>
        <p:spPr>
          <a:xfrm>
            <a:off x="6583680" y="2688336"/>
            <a:ext cx="2286000" cy="566928"/>
          </a:xfrm>
          <a:prstGeom prst="rect">
            <a:avLst/>
          </a:prstGeom>
          <a:noFill/>
          <a:ln/>
        </p:spPr>
        <p:txBody>
          <a:bodyPr wrap="square" lIns="38100" tIns="38100" rIns="38100" bIns="38100" rtlCol="0" anchor="ctr"/>
          <a:lstStyle/>
          <a:p>
            <a:pPr indent="0" marL="0">
              <a:buNone/>
            </a:pPr>
            <a:r>
              <a:rPr lang="en-US" sz="950" dirty="0">
                <a:solidFill>
                  <a:srgbClr val="FFFFFF"/>
                </a:solidFill>
              </a:rPr>
              <a:t>Generative Design đặc biệt hiệu quả với ngành hàng không, ô tô, y tế — nơi giảm trọng lượng có giá trị cao.</a:t>
            </a:r>
            <a:endParaRPr lang="en-US" sz="950" dirty="0"/>
          </a:p>
        </p:txBody>
      </p:sp>
      <p:sp>
        <p:nvSpPr>
          <p:cNvPr id="52" name="Shape 50"/>
          <p:cNvSpPr/>
          <p:nvPr/>
        </p:nvSpPr>
        <p:spPr>
          <a:xfrm>
            <a:off x="6492240" y="3346704"/>
            <a:ext cx="36576" cy="566928"/>
          </a:xfrm>
          <a:prstGeom prst="rect">
            <a:avLst/>
          </a:prstGeom>
          <a:solidFill>
            <a:srgbClr val="E8750A"/>
          </a:solidFill>
          <a:ln w="12700">
            <a:solidFill>
              <a:srgbClr val="E8750A"/>
            </a:solidFill>
            <a:prstDash val="solid"/>
          </a:ln>
        </p:spPr>
      </p:sp>
      <p:sp>
        <p:nvSpPr>
          <p:cNvPr id="53" name="Text 51"/>
          <p:cNvSpPr/>
          <p:nvPr/>
        </p:nvSpPr>
        <p:spPr>
          <a:xfrm>
            <a:off x="6583680" y="3346704"/>
            <a:ext cx="2286000" cy="566928"/>
          </a:xfrm>
          <a:prstGeom prst="rect">
            <a:avLst/>
          </a:prstGeom>
          <a:noFill/>
          <a:ln/>
        </p:spPr>
        <p:txBody>
          <a:bodyPr wrap="square" lIns="38100" tIns="38100" rIns="38100" bIns="38100" rtlCol="0" anchor="ctr"/>
          <a:lstStyle/>
          <a:p>
            <a:pPr indent="0" marL="0">
              <a:buNone/>
            </a:pPr>
            <a:r>
              <a:rPr lang="en-US" sz="950" dirty="0">
                <a:solidFill>
                  <a:srgbClr val="FFFFFF"/>
                </a:solidFill>
              </a:rPr>
              <a:t>Fusion 360 cho phép chạy nhiều phương án song song với các vật liệu và chế độ gia công khác nhau.</a:t>
            </a:r>
            <a:endParaRPr lang="en-US" sz="950" dirty="0"/>
          </a:p>
        </p:txBody>
      </p:sp>
      <p:sp>
        <p:nvSpPr>
          <p:cNvPr id="54" name="Shape 52"/>
          <p:cNvSpPr/>
          <p:nvPr/>
        </p:nvSpPr>
        <p:spPr>
          <a:xfrm>
            <a:off x="228600" y="4480560"/>
            <a:ext cx="5943600" cy="274320"/>
          </a:xfrm>
          <a:prstGeom prst="rect">
            <a:avLst/>
          </a:prstGeom>
          <a:solidFill>
            <a:srgbClr val="253660"/>
          </a:solidFill>
          <a:ln w="10160">
            <a:solidFill>
              <a:srgbClr val="E8750A"/>
            </a:solidFill>
            <a:prstDash val="solid"/>
          </a:ln>
        </p:spPr>
      </p:sp>
      <p:sp>
        <p:nvSpPr>
          <p:cNvPr id="55" name="Text 53"/>
          <p:cNvSpPr/>
          <p:nvPr/>
        </p:nvSpPr>
        <p:spPr>
          <a:xfrm>
            <a:off x="274320" y="4480560"/>
            <a:ext cx="5852160" cy="274320"/>
          </a:xfrm>
          <a:prstGeom prst="rect">
            <a:avLst/>
          </a:prstGeom>
          <a:noFill/>
          <a:ln/>
        </p:spPr>
        <p:txBody>
          <a:bodyPr wrap="square" lIns="38100" tIns="38100" rIns="38100" bIns="38100" rtlCol="0" anchor="ctr"/>
          <a:lstStyle/>
          <a:p>
            <a:pPr indent="0" marL="0">
              <a:buNone/>
            </a:pPr>
            <a:r>
              <a:rPr lang="en-US" sz="900" dirty="0">
                <a:solidFill>
                  <a:srgbClr val="E2E8F0"/>
                </a:solidFill>
              </a:rPr>
              <a:t>📌  Tham khảo: Autodesk Fusion 360 Generative Design — https://www.autodesk.com/products/fusion-360</a:t>
            </a:r>
            <a:endParaRPr lang="en-US" sz="900" dirty="0"/>
          </a:p>
        </p:txBody>
      </p:sp>
      <p:sp>
        <p:nvSpPr>
          <p:cNvPr id="56" name="Shape 54"/>
          <p:cNvSpPr/>
          <p:nvPr/>
        </p:nvSpPr>
        <p:spPr>
          <a:xfrm>
            <a:off x="0" y="4846320"/>
            <a:ext cx="9144000" cy="297180"/>
          </a:xfrm>
          <a:prstGeom prst="rect">
            <a:avLst/>
          </a:prstGeom>
          <a:solidFill>
            <a:srgbClr val="121B30"/>
          </a:solidFill>
          <a:ln w="12700">
            <a:solidFill>
              <a:srgbClr val="121B30"/>
            </a:solidFill>
            <a:prstDash val="solid"/>
          </a:ln>
        </p:spPr>
      </p:sp>
      <p:sp>
        <p:nvSpPr>
          <p:cNvPr id="57" name="Text 55"/>
          <p:cNvSpPr/>
          <p:nvPr/>
        </p:nvSpPr>
        <p:spPr>
          <a:xfrm>
            <a:off x="182880" y="4846320"/>
            <a:ext cx="8778240" cy="297180"/>
          </a:xfrm>
          <a:prstGeom prst="rect">
            <a:avLst/>
          </a:prstGeom>
          <a:noFill/>
          <a:ln/>
        </p:spPr>
        <p:txBody>
          <a:bodyPr wrap="square" lIns="0" tIns="0" rIns="0" bIns="0" rtlCol="0" anchor="ctr"/>
          <a:lstStyle/>
          <a:p>
            <a:pPr indent="0" marL="0">
              <a:buNone/>
            </a:pPr>
            <a:r>
              <a:rPr lang="en-US" sz="1000" dirty="0">
                <a:solidFill>
                  <a:srgbClr val="E2E8F0"/>
                </a:solidFill>
              </a:rPr>
              <a:t>Thiết kế Sinh mẫu (Generative Design) — Giá đỡ kết cấu</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Thiết kế Sinh mẫu AI - Giá đỡ</dc:title>
  <dc:subject>PptxGenJS Presentation</dc:subject>
  <dc:creator>PptxGenJS</dc:creator>
  <cp:lastModifiedBy>PptxGenJS</cp:lastModifiedBy>
  <cp:revision>1</cp:revision>
  <dcterms:created xsi:type="dcterms:W3CDTF">2026-06-01T01:57:51Z</dcterms:created>
  <dcterms:modified xsi:type="dcterms:W3CDTF">2026-06-01T01:57:51Z</dcterms:modified>
</cp:coreProperties>
</file>